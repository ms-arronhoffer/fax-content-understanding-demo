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Frame this as a customer-facing architecture walkthrough: how we can automate inbound fax ingestion and extraction end-to-end using managed Azure services — no custom application code to run or patch. Mention the four building blocks visible on this slide (Power Automate, Blob Storage, Logic Apps, Content Understanding) and that we'll walk through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pain point in the customer's own words if possible before showing this slide. The 70% stat is illustrative — swap in the customer's actual fax volume and current turnaround time if known. Emphasize the lack of visibility/audit trail as often the most painful part for compliance-heavy industries.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30,000-foot view. Walk left to right: a file is picked up from a local folder, lands in Blob Storage, triggers a Logic App, gets analyzed by Content Understanding, and the result is delivered back to Blob Storage. Stress 'no application code to maintain' — everything here is configuration on top of managed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diagram left to right. Call out that both the trigger (blob arrival) and the auth to Content Understanding (managed identity) are handled without any custom code or stored secrets. Point out the fork at the end: success goes to processed/, failure goes to errors/ with the failure detail — nothing silently disappears. Mention Event Grid as a documented future enhancement for lower latency (covered again on the roadmap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a good reference/leave-behind slide. Emphasize the last row — managed identity + RBAC — since secretless auth is frequently a security/compliance requirement for customers in regulated industries.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steps 1-3 in order. If doing a live demo, this is the moment to actually run the Power Automate flow and show the file being picked from a local folder. Reiterate that the SAS URL is short-lived (30 minutes) and scoped to read-only access to that one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polling is necessary: document analysis is asynchronous because it can take longer than a typical synchronous HTTP timeout, especially for multi-page documents. Walk through the sample output table on the right — highlight the mix of extracted, classified, and generated fields, and the confidence scores. This is a good moment to mention source grounding (not shown in the table, but included in the full JSON) for auditability.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'why this and not just OCR' slide — anticipate the question 'don't we already have Document Intelligence?' The key differentiator is the ability to mix extract/classify/generate methods in one schema, producing an analyst-ready answer (like a plain-language summary) instead of just raw extracted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figures are meant to prompt discussion, not stand alone as guaranteed numbers — invite the customer to share their own volumes so a tailored business case can be built afterward. The 'what this unlocks' bullets are a good segue into the roadmap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explicitly scoping what's in today's demo vs. what a production rollout typically adds. Use this slide to open the floor for questions about which of these roadmap items matter most to the customer, and to propose concrete next steps (pilot, workshop, or scoping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A19"/>
        </a:solidFill>
      </p:bgPr>
    </p:bg>
    <p:spTree>
      <p:nvGrpSpPr>
        <p:cNvPr id="1" name=""/>
        <p:cNvGrpSpPr/>
        <p:nvPr/>
      </p:nvGrpSpPr>
      <p:grpSpPr>
        <a:xfrm>
          <a:off x="0" y="0"/>
          <a:ext cx="0" cy="0"/>
          <a:chOff x="0" y="0"/>
          <a:chExt cx="0" cy="0"/>
        </a:xfrm>
      </p:grpSpPr>
      <p:sp>
        <p:nvSpPr>
          <p:cNvPr id="2" name="Shape 0"/>
          <p:cNvSpPr/>
          <p:nvPr/>
        </p:nvSpPr>
        <p:spPr>
          <a:xfrm>
            <a:off x="0" y="0"/>
            <a:ext cx="12198096" cy="109728"/>
          </a:xfrm>
          <a:prstGeom prst="rect">
            <a:avLst/>
          </a:prstGeom>
          <a:solidFill>
            <a:srgbClr val="0078D4"/>
          </a:solidFill>
          <a:ln/>
        </p:spPr>
      </p:sp>
      <p:sp>
        <p:nvSpPr>
          <p:cNvPr id="3" name="Shape 1"/>
          <p:cNvSpPr/>
          <p:nvPr/>
        </p:nvSpPr>
        <p:spPr>
          <a:xfrm>
            <a:off x="9418320" y="-1463040"/>
            <a:ext cx="4572000" cy="4572000"/>
          </a:xfrm>
          <a:prstGeom prst="ellipse">
            <a:avLst/>
          </a:prstGeom>
          <a:solidFill>
            <a:srgbClr val="0078D4">
              <a:alpha val="12000"/>
            </a:srgbClr>
          </a:solidFill>
          <a:ln/>
        </p:spPr>
      </p:sp>
      <p:sp>
        <p:nvSpPr>
          <p:cNvPr id="4" name="Shape 2"/>
          <p:cNvSpPr/>
          <p:nvPr/>
        </p:nvSpPr>
        <p:spPr>
          <a:xfrm>
            <a:off x="-1463040" y="4389120"/>
            <a:ext cx="3840480" cy="3840480"/>
          </a:xfrm>
          <a:prstGeom prst="ellipse">
            <a:avLst/>
          </a:prstGeom>
          <a:solidFill>
            <a:srgbClr val="50E6FF">
              <a:alpha val="8000"/>
            </a:srgbClr>
          </a:solidFill>
          <a:ln/>
        </p:spPr>
      </p:sp>
      <p:sp>
        <p:nvSpPr>
          <p:cNvPr id="5" name="Text 3"/>
          <p:cNvSpPr/>
          <p:nvPr/>
        </p:nvSpPr>
        <p:spPr>
          <a:xfrm>
            <a:off x="731520" y="1965960"/>
            <a:ext cx="9144000" cy="320040"/>
          </a:xfrm>
          <a:prstGeom prst="rect">
            <a:avLst/>
          </a:prstGeom>
          <a:noFill/>
          <a:ln/>
        </p:spPr>
        <p:txBody>
          <a:bodyPr wrap="square" lIns="0" tIns="0" rIns="0" bIns="0" rtlCol="0" anchor="ctr"/>
          <a:lstStyle/>
          <a:p>
            <a:pPr indent="0" marL="0">
              <a:buNone/>
            </a:pPr>
            <a:r>
              <a:rPr lang="en-US" sz="1400" b="1" spc="300" kern="0" dirty="0">
                <a:solidFill>
                  <a:srgbClr val="50E6FF"/>
                </a:solidFill>
                <a:latin typeface="Segoe UI" pitchFamily="34" charset="0"/>
                <a:ea typeface="Segoe UI" pitchFamily="34" charset="-122"/>
                <a:cs typeface="Segoe UI" pitchFamily="34" charset="-120"/>
              </a:rPr>
              <a:t>CUSTOMER BRIEFING  •  ARCHITECTURE WALKTHROUGH</a:t>
            </a:r>
            <a:endParaRPr lang="en-US" sz="1400" dirty="0"/>
          </a:p>
        </p:txBody>
      </p:sp>
      <p:sp>
        <p:nvSpPr>
          <p:cNvPr id="6" name="Text 4"/>
          <p:cNvSpPr/>
          <p:nvPr/>
        </p:nvSpPr>
        <p:spPr>
          <a:xfrm>
            <a:off x="731520" y="2331720"/>
            <a:ext cx="10515600" cy="1188720"/>
          </a:xfrm>
          <a:prstGeom prst="rect">
            <a:avLst/>
          </a:prstGeom>
          <a:noFill/>
          <a:ln/>
        </p:spPr>
        <p:txBody>
          <a:bodyPr wrap="square" lIns="0" tIns="0" rIns="0" bIns="0" rtlCol="0" anchor="ctr"/>
          <a:lstStyle/>
          <a:p>
            <a:pPr indent="0" marL="0">
              <a:buNone/>
            </a:pPr>
            <a:r>
              <a:rPr lang="en-US" sz="4400" b="1" dirty="0">
                <a:solidFill>
                  <a:srgbClr val="F3F2F1"/>
                </a:solidFill>
                <a:latin typeface="Segoe UI Semibold" pitchFamily="34" charset="0"/>
                <a:ea typeface="Segoe UI Semibold" pitchFamily="34" charset="-122"/>
                <a:cs typeface="Segoe UI Semibold" pitchFamily="34" charset="-120"/>
              </a:rPr>
              <a:t>Automating Fax Ingest &amp; Extraction</a:t>
            </a:r>
            <a:endParaRPr lang="en-US" sz="4400" dirty="0"/>
          </a:p>
        </p:txBody>
      </p:sp>
      <p:sp>
        <p:nvSpPr>
          <p:cNvPr id="7" name="Text 5"/>
          <p:cNvSpPr/>
          <p:nvPr/>
        </p:nvSpPr>
        <p:spPr>
          <a:xfrm>
            <a:off x="731520" y="3429000"/>
            <a:ext cx="9601200" cy="548640"/>
          </a:xfrm>
          <a:prstGeom prst="rect">
            <a:avLst/>
          </a:prstGeom>
          <a:noFill/>
          <a:ln/>
        </p:spPr>
        <p:txBody>
          <a:bodyPr wrap="square" lIns="0" tIns="0" rIns="0" bIns="0" rtlCol="0" anchor="ctr"/>
          <a:lstStyle/>
          <a:p>
            <a:pPr indent="0" marL="0">
              <a:buNone/>
            </a:pPr>
            <a:r>
              <a:rPr lang="en-US" sz="1800" dirty="0">
                <a:solidFill>
                  <a:srgbClr val="C8C6C4"/>
                </a:solidFill>
                <a:latin typeface="Segoe UI" pitchFamily="34" charset="0"/>
                <a:ea typeface="Segoe UI" pitchFamily="34" charset="-122"/>
                <a:cs typeface="Segoe UI" pitchFamily="34" charset="-120"/>
              </a:rPr>
              <a:t>Turning inbound faxes into structured, actionable data with Azure Content Understanding</a:t>
            </a:r>
            <a:endParaRPr lang="en-US" sz="1800" dirty="0"/>
          </a:p>
        </p:txBody>
      </p:sp>
      <p:sp>
        <p:nvSpPr>
          <p:cNvPr id="8" name="Shape 6"/>
          <p:cNvSpPr/>
          <p:nvPr/>
        </p:nvSpPr>
        <p:spPr>
          <a:xfrm>
            <a:off x="731520" y="4297680"/>
            <a:ext cx="1664208" cy="384048"/>
          </a:xfrm>
          <a:prstGeom prst="roundRect">
            <a:avLst>
              <a:gd name="adj" fmla="val 19048"/>
            </a:avLst>
          </a:prstGeom>
          <a:solidFill>
            <a:srgbClr val="252423"/>
          </a:solidFill>
          <a:ln w="12700">
            <a:solidFill>
              <a:srgbClr val="0078D4"/>
            </a:solidFill>
            <a:prstDash val="solid"/>
          </a:ln>
        </p:spPr>
      </p:sp>
      <p:sp>
        <p:nvSpPr>
          <p:cNvPr id="9" name="Text 7"/>
          <p:cNvSpPr/>
          <p:nvPr/>
        </p:nvSpPr>
        <p:spPr>
          <a:xfrm>
            <a:off x="731520" y="4297680"/>
            <a:ext cx="1664208" cy="384048"/>
          </a:xfrm>
          <a:prstGeom prst="rect">
            <a:avLst/>
          </a:prstGeom>
          <a:noFill/>
          <a:ln/>
        </p:spPr>
        <p:txBody>
          <a:bodyPr wrap="square" lIns="0" tIns="0" rIns="0" bIns="0" rtlCol="0" anchor="ctr"/>
          <a:lstStyle/>
          <a:p>
            <a:pPr algn="ctr" indent="0" marL="0">
              <a:buNone/>
            </a:pPr>
            <a:r>
              <a:rPr lang="en-US" sz="1200" dirty="0">
                <a:solidFill>
                  <a:srgbClr val="F3F2F1"/>
                </a:solidFill>
                <a:latin typeface="Segoe UI" pitchFamily="34" charset="0"/>
                <a:ea typeface="Segoe UI" pitchFamily="34" charset="-122"/>
                <a:cs typeface="Segoe UI" pitchFamily="34" charset="-120"/>
              </a:rPr>
              <a:t>Power Automate</a:t>
            </a:r>
            <a:endParaRPr lang="en-US" sz="1200" dirty="0"/>
          </a:p>
        </p:txBody>
      </p:sp>
      <p:sp>
        <p:nvSpPr>
          <p:cNvPr id="10" name="Shape 8"/>
          <p:cNvSpPr/>
          <p:nvPr/>
        </p:nvSpPr>
        <p:spPr>
          <a:xfrm>
            <a:off x="2670048" y="4297680"/>
            <a:ext cx="1463040" cy="384048"/>
          </a:xfrm>
          <a:prstGeom prst="roundRect">
            <a:avLst>
              <a:gd name="adj" fmla="val 19048"/>
            </a:avLst>
          </a:prstGeom>
          <a:solidFill>
            <a:srgbClr val="252423"/>
          </a:solidFill>
          <a:ln w="12700">
            <a:solidFill>
              <a:srgbClr val="0078D4"/>
            </a:solidFill>
            <a:prstDash val="solid"/>
          </a:ln>
        </p:spPr>
      </p:sp>
      <p:sp>
        <p:nvSpPr>
          <p:cNvPr id="11" name="Text 9"/>
          <p:cNvSpPr/>
          <p:nvPr/>
        </p:nvSpPr>
        <p:spPr>
          <a:xfrm>
            <a:off x="2670048" y="4297680"/>
            <a:ext cx="1463040" cy="384048"/>
          </a:xfrm>
          <a:prstGeom prst="rect">
            <a:avLst/>
          </a:prstGeom>
          <a:noFill/>
          <a:ln/>
        </p:spPr>
        <p:txBody>
          <a:bodyPr wrap="square" lIns="0" tIns="0" rIns="0" bIns="0" rtlCol="0" anchor="ctr"/>
          <a:lstStyle/>
          <a:p>
            <a:pPr algn="ctr" indent="0" marL="0">
              <a:buNone/>
            </a:pPr>
            <a:r>
              <a:rPr lang="en-US" sz="1200" dirty="0">
                <a:solidFill>
                  <a:srgbClr val="F3F2F1"/>
                </a:solidFill>
                <a:latin typeface="Segoe UI" pitchFamily="34" charset="0"/>
                <a:ea typeface="Segoe UI" pitchFamily="34" charset="-122"/>
                <a:cs typeface="Segoe UI" pitchFamily="34" charset="-120"/>
              </a:rPr>
              <a:t>Blob Storage</a:t>
            </a:r>
            <a:endParaRPr lang="en-US" sz="1200" dirty="0"/>
          </a:p>
        </p:txBody>
      </p:sp>
      <p:sp>
        <p:nvSpPr>
          <p:cNvPr id="12" name="Shape 10"/>
          <p:cNvSpPr/>
          <p:nvPr/>
        </p:nvSpPr>
        <p:spPr>
          <a:xfrm>
            <a:off x="4407408" y="4297680"/>
            <a:ext cx="1261872" cy="384048"/>
          </a:xfrm>
          <a:prstGeom prst="roundRect">
            <a:avLst>
              <a:gd name="adj" fmla="val 19048"/>
            </a:avLst>
          </a:prstGeom>
          <a:solidFill>
            <a:srgbClr val="252423"/>
          </a:solidFill>
          <a:ln w="12700">
            <a:solidFill>
              <a:srgbClr val="0078D4"/>
            </a:solidFill>
            <a:prstDash val="solid"/>
          </a:ln>
        </p:spPr>
      </p:sp>
      <p:sp>
        <p:nvSpPr>
          <p:cNvPr id="13" name="Text 11"/>
          <p:cNvSpPr/>
          <p:nvPr/>
        </p:nvSpPr>
        <p:spPr>
          <a:xfrm>
            <a:off x="4407408" y="4297680"/>
            <a:ext cx="1261872" cy="384048"/>
          </a:xfrm>
          <a:prstGeom prst="rect">
            <a:avLst/>
          </a:prstGeom>
          <a:noFill/>
          <a:ln/>
        </p:spPr>
        <p:txBody>
          <a:bodyPr wrap="square" lIns="0" tIns="0" rIns="0" bIns="0" rtlCol="0" anchor="ctr"/>
          <a:lstStyle/>
          <a:p>
            <a:pPr algn="ctr" indent="0" marL="0">
              <a:buNone/>
            </a:pPr>
            <a:r>
              <a:rPr lang="en-US" sz="1200" dirty="0">
                <a:solidFill>
                  <a:srgbClr val="F3F2F1"/>
                </a:solidFill>
                <a:latin typeface="Segoe UI" pitchFamily="34" charset="0"/>
                <a:ea typeface="Segoe UI" pitchFamily="34" charset="-122"/>
                <a:cs typeface="Segoe UI" pitchFamily="34" charset="-120"/>
              </a:rPr>
              <a:t>Logic Apps</a:t>
            </a:r>
            <a:endParaRPr lang="en-US" sz="1200" dirty="0"/>
          </a:p>
        </p:txBody>
      </p:sp>
      <p:sp>
        <p:nvSpPr>
          <p:cNvPr id="14" name="Shape 12"/>
          <p:cNvSpPr/>
          <p:nvPr/>
        </p:nvSpPr>
        <p:spPr>
          <a:xfrm>
            <a:off x="5943600" y="4297680"/>
            <a:ext cx="2368296" cy="384048"/>
          </a:xfrm>
          <a:prstGeom prst="roundRect">
            <a:avLst>
              <a:gd name="adj" fmla="val 19048"/>
            </a:avLst>
          </a:prstGeom>
          <a:solidFill>
            <a:srgbClr val="252423"/>
          </a:solidFill>
          <a:ln w="12700">
            <a:solidFill>
              <a:srgbClr val="0078D4"/>
            </a:solidFill>
            <a:prstDash val="solid"/>
          </a:ln>
        </p:spPr>
      </p:sp>
      <p:sp>
        <p:nvSpPr>
          <p:cNvPr id="15" name="Text 13"/>
          <p:cNvSpPr/>
          <p:nvPr/>
        </p:nvSpPr>
        <p:spPr>
          <a:xfrm>
            <a:off x="5943600" y="4297680"/>
            <a:ext cx="2368296" cy="384048"/>
          </a:xfrm>
          <a:prstGeom prst="rect">
            <a:avLst/>
          </a:prstGeom>
          <a:noFill/>
          <a:ln/>
        </p:spPr>
        <p:txBody>
          <a:bodyPr wrap="square" lIns="0" tIns="0" rIns="0" bIns="0" rtlCol="0" anchor="ctr"/>
          <a:lstStyle/>
          <a:p>
            <a:pPr algn="ctr" indent="0" marL="0">
              <a:buNone/>
            </a:pPr>
            <a:r>
              <a:rPr lang="en-US" sz="1200" dirty="0">
                <a:solidFill>
                  <a:srgbClr val="F3F2F1"/>
                </a:solidFill>
                <a:latin typeface="Segoe UI" pitchFamily="34" charset="0"/>
                <a:ea typeface="Segoe UI" pitchFamily="34" charset="-122"/>
                <a:cs typeface="Segoe UI" pitchFamily="34" charset="-120"/>
              </a:rPr>
              <a:t>Content Understanding</a:t>
            </a:r>
            <a:endParaRPr lang="en-US" sz="1200" dirty="0"/>
          </a:p>
        </p:txBody>
      </p:sp>
      <p:sp>
        <p:nvSpPr>
          <p:cNvPr id="16" name="Text 14"/>
          <p:cNvSpPr/>
          <p:nvPr/>
        </p:nvSpPr>
        <p:spPr>
          <a:xfrm>
            <a:off x="731520" y="6263640"/>
            <a:ext cx="4572000" cy="274320"/>
          </a:xfrm>
          <a:prstGeom prst="rect">
            <a:avLst/>
          </a:prstGeom>
          <a:noFill/>
          <a:ln/>
        </p:spPr>
        <p:txBody>
          <a:bodyPr wrap="square" lIns="0" tIns="0" rIns="0" bIns="0" rtlCol="0" anchor="ctr"/>
          <a:lstStyle/>
          <a:p>
            <a:pPr indent="0" marL="0">
              <a:buNone/>
            </a:pPr>
            <a:r>
              <a:rPr lang="en-US" sz="1100" dirty="0">
                <a:solidFill>
                  <a:srgbClr val="8A8886"/>
                </a:solidFill>
                <a:latin typeface="Segoe UI" pitchFamily="34" charset="0"/>
                <a:ea typeface="Segoe UI" pitchFamily="34" charset="-122"/>
                <a:cs typeface="Segoe UI" pitchFamily="34" charset="-120"/>
              </a:rPr>
              <a:t>Microsoft  |  Azure AI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2F1"/>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0078D4"/>
                </a:solidFill>
                <a:latin typeface="Segoe UI" pitchFamily="34" charset="0"/>
                <a:ea typeface="Segoe UI" pitchFamily="34" charset="-122"/>
                <a:cs typeface="Segoe UI" pitchFamily="34" charset="-120"/>
              </a:rPr>
              <a:t>THE CHALLENGE</a:t>
            </a:r>
            <a:endParaRPr lang="en-US" sz="1300" dirty="0"/>
          </a:p>
        </p:txBody>
      </p:sp>
      <p:sp>
        <p:nvSpPr>
          <p:cNvPr id="3" name="Text 1"/>
          <p:cNvSpPr/>
          <p:nvPr/>
        </p:nvSpPr>
        <p:spPr>
          <a:xfrm>
            <a:off x="548640" y="658368"/>
            <a:ext cx="10515600" cy="777240"/>
          </a:xfrm>
          <a:prstGeom prst="rect">
            <a:avLst/>
          </a:prstGeom>
          <a:noFill/>
          <a:ln/>
        </p:spPr>
        <p:txBody>
          <a:bodyPr wrap="square" lIns="0" tIns="0" rIns="0" bIns="0" rtlCol="0" anchor="ctr"/>
          <a:lstStyle/>
          <a:p>
            <a:pPr indent="0" marL="0">
              <a:buNone/>
            </a:pPr>
            <a:r>
              <a:rPr lang="en-US" sz="3200" b="1" dirty="0">
                <a:solidFill>
                  <a:srgbClr val="201F1E"/>
                </a:solidFill>
                <a:latin typeface="Segoe UI Semibold" pitchFamily="34" charset="0"/>
                <a:ea typeface="Segoe UI Semibold" pitchFamily="34" charset="-122"/>
                <a:cs typeface="Segoe UI Semibold" pitchFamily="34" charset="-120"/>
              </a:rPr>
              <a:t>Inbound faxes are still a manual bottleneck</a:t>
            </a:r>
            <a:endParaRPr lang="en-US" sz="3200" dirty="0"/>
          </a:p>
        </p:txBody>
      </p:sp>
      <p:sp>
        <p:nvSpPr>
          <p:cNvPr id="4" name="Shape 2"/>
          <p:cNvSpPr/>
          <p:nvPr/>
        </p:nvSpPr>
        <p:spPr>
          <a:xfrm>
            <a:off x="640080" y="1874520"/>
            <a:ext cx="502920" cy="502920"/>
          </a:xfrm>
          <a:prstGeom prst="ellipse">
            <a:avLst/>
          </a:prstGeom>
          <a:solidFill>
            <a:srgbClr val="0078D4"/>
          </a:solidFill>
          <a:ln/>
        </p:spPr>
      </p:sp>
      <p:pic>
        <p:nvPicPr>
          <p:cNvPr id="5" name="Image 0" descr="preencoded.png">    </p:cNvPr>
          <p:cNvPicPr>
            <a:picLocks noChangeAspect="1"/>
          </p:cNvPicPr>
          <p:nvPr/>
        </p:nvPicPr>
        <p:blipFill>
          <a:blip r:embed="rId1"/>
          <a:stretch>
            <a:fillRect/>
          </a:stretch>
        </p:blipFill>
        <p:spPr>
          <a:xfrm>
            <a:off x="760781" y="1995221"/>
            <a:ext cx="261518" cy="261518"/>
          </a:xfrm>
          <a:prstGeom prst="rect">
            <a:avLst/>
          </a:prstGeom>
        </p:spPr>
      </p:pic>
      <p:sp>
        <p:nvSpPr>
          <p:cNvPr id="6" name="Text 3"/>
          <p:cNvSpPr/>
          <p:nvPr/>
        </p:nvSpPr>
        <p:spPr>
          <a:xfrm>
            <a:off x="1325880" y="1828800"/>
            <a:ext cx="6126480" cy="320040"/>
          </a:xfrm>
          <a:prstGeom prst="rect">
            <a:avLst/>
          </a:prstGeom>
          <a:noFill/>
          <a:ln/>
        </p:spPr>
        <p:txBody>
          <a:bodyPr wrap="square" lIns="0" tIns="0" rIns="0" bIns="0" rtlCol="0" anchor="ctr"/>
          <a:lstStyle/>
          <a:p>
            <a:pPr indent="0" marL="0">
              <a:buNone/>
            </a:pPr>
            <a:r>
              <a:rPr lang="en-US" sz="1600" b="1" dirty="0">
                <a:solidFill>
                  <a:srgbClr val="201F1E"/>
                </a:solidFill>
                <a:latin typeface="Segoe UI Semibold" pitchFamily="34" charset="0"/>
                <a:ea typeface="Segoe UI Semibold" pitchFamily="34" charset="-122"/>
                <a:cs typeface="Segoe UI Semibold" pitchFamily="34" charset="-120"/>
              </a:rPr>
              <a:t>Manual re-keying</a:t>
            </a:r>
            <a:endParaRPr lang="en-US" sz="1600" dirty="0"/>
          </a:p>
        </p:txBody>
      </p:sp>
      <p:sp>
        <p:nvSpPr>
          <p:cNvPr id="7" name="Text 4"/>
          <p:cNvSpPr/>
          <p:nvPr/>
        </p:nvSpPr>
        <p:spPr>
          <a:xfrm>
            <a:off x="1325880" y="2130552"/>
            <a:ext cx="6309360" cy="685800"/>
          </a:xfrm>
          <a:prstGeom prst="rect">
            <a:avLst/>
          </a:prstGeom>
          <a:noFill/>
          <a:ln/>
        </p:spPr>
        <p:txBody>
          <a:bodyPr wrap="square" lIns="0" tIns="0" rIns="0" bIns="0" rtlCol="0" anchor="ctr"/>
          <a:lstStyle/>
          <a:p>
            <a:pPr indent="0" marL="0">
              <a:buNone/>
            </a:pPr>
            <a:r>
              <a:rPr lang="en-US" sz="1250" dirty="0">
                <a:solidFill>
                  <a:srgbClr val="3B3A39"/>
                </a:solidFill>
                <a:latin typeface="Segoe UI" pitchFamily="34" charset="0"/>
                <a:ea typeface="Segoe UI" pitchFamily="34" charset="-122"/>
                <a:cs typeface="Segoe UI" pitchFamily="34" charset="-120"/>
              </a:rPr>
              <a:t>Staff retype sender, patient/customer, and document details from every fax image into downstream systems.</a:t>
            </a:r>
            <a:endParaRPr lang="en-US" sz="1250" dirty="0"/>
          </a:p>
        </p:txBody>
      </p:sp>
      <p:sp>
        <p:nvSpPr>
          <p:cNvPr id="8" name="Shape 5"/>
          <p:cNvSpPr/>
          <p:nvPr/>
        </p:nvSpPr>
        <p:spPr>
          <a:xfrm>
            <a:off x="640080" y="2926080"/>
            <a:ext cx="502920" cy="502920"/>
          </a:xfrm>
          <a:prstGeom prst="ellipse">
            <a:avLst/>
          </a:prstGeom>
          <a:solidFill>
            <a:srgbClr val="0078D4"/>
          </a:solidFill>
          <a:ln/>
        </p:spPr>
      </p:sp>
      <p:pic>
        <p:nvPicPr>
          <p:cNvPr id="9" name="Image 1" descr="preencoded.png">    </p:cNvPr>
          <p:cNvPicPr>
            <a:picLocks noChangeAspect="1"/>
          </p:cNvPicPr>
          <p:nvPr/>
        </p:nvPicPr>
        <p:blipFill>
          <a:blip r:embed="rId2"/>
          <a:stretch>
            <a:fillRect/>
          </a:stretch>
        </p:blipFill>
        <p:spPr>
          <a:xfrm>
            <a:off x="760781" y="3046781"/>
            <a:ext cx="261518" cy="261518"/>
          </a:xfrm>
          <a:prstGeom prst="rect">
            <a:avLst/>
          </a:prstGeom>
        </p:spPr>
      </p:pic>
      <p:sp>
        <p:nvSpPr>
          <p:cNvPr id="10" name="Text 6"/>
          <p:cNvSpPr/>
          <p:nvPr/>
        </p:nvSpPr>
        <p:spPr>
          <a:xfrm>
            <a:off x="1325880" y="2880360"/>
            <a:ext cx="6126480" cy="320040"/>
          </a:xfrm>
          <a:prstGeom prst="rect">
            <a:avLst/>
          </a:prstGeom>
          <a:noFill/>
          <a:ln/>
        </p:spPr>
        <p:txBody>
          <a:bodyPr wrap="square" lIns="0" tIns="0" rIns="0" bIns="0" rtlCol="0" anchor="ctr"/>
          <a:lstStyle/>
          <a:p>
            <a:pPr indent="0" marL="0">
              <a:buNone/>
            </a:pPr>
            <a:r>
              <a:rPr lang="en-US" sz="1600" b="1" dirty="0">
                <a:solidFill>
                  <a:srgbClr val="201F1E"/>
                </a:solidFill>
                <a:latin typeface="Segoe UI Semibold" pitchFamily="34" charset="0"/>
                <a:ea typeface="Segoe UI Semibold" pitchFamily="34" charset="-122"/>
                <a:cs typeface="Segoe UI Semibold" pitchFamily="34" charset="-120"/>
              </a:rPr>
              <a:t>Slow turnaround</a:t>
            </a:r>
            <a:endParaRPr lang="en-US" sz="1600" dirty="0"/>
          </a:p>
        </p:txBody>
      </p:sp>
      <p:sp>
        <p:nvSpPr>
          <p:cNvPr id="11" name="Text 7"/>
          <p:cNvSpPr/>
          <p:nvPr/>
        </p:nvSpPr>
        <p:spPr>
          <a:xfrm>
            <a:off x="1325880" y="3182112"/>
            <a:ext cx="6309360" cy="685800"/>
          </a:xfrm>
          <a:prstGeom prst="rect">
            <a:avLst/>
          </a:prstGeom>
          <a:noFill/>
          <a:ln/>
        </p:spPr>
        <p:txBody>
          <a:bodyPr wrap="square" lIns="0" tIns="0" rIns="0" bIns="0" rtlCol="0" anchor="ctr"/>
          <a:lstStyle/>
          <a:p>
            <a:pPr indent="0" marL="0">
              <a:buNone/>
            </a:pPr>
            <a:r>
              <a:rPr lang="en-US" sz="1250" dirty="0">
                <a:solidFill>
                  <a:srgbClr val="3B3A39"/>
                </a:solidFill>
                <a:latin typeface="Segoe UI" pitchFamily="34" charset="0"/>
                <a:ea typeface="Segoe UI" pitchFamily="34" charset="-122"/>
                <a:cs typeface="Segoe UI" pitchFamily="34" charset="-120"/>
              </a:rPr>
              <a:t>Faxes sit in a queue until someone has time to open, read, and route them — delaying time-sensitive requests.</a:t>
            </a:r>
            <a:endParaRPr lang="en-US" sz="1250" dirty="0"/>
          </a:p>
        </p:txBody>
      </p:sp>
      <p:sp>
        <p:nvSpPr>
          <p:cNvPr id="12" name="Shape 8"/>
          <p:cNvSpPr/>
          <p:nvPr/>
        </p:nvSpPr>
        <p:spPr>
          <a:xfrm>
            <a:off x="640080" y="3977640"/>
            <a:ext cx="502920" cy="502920"/>
          </a:xfrm>
          <a:prstGeom prst="ellipse">
            <a:avLst/>
          </a:prstGeom>
          <a:solidFill>
            <a:srgbClr val="0078D4"/>
          </a:solidFill>
          <a:ln/>
        </p:spPr>
      </p:sp>
      <p:pic>
        <p:nvPicPr>
          <p:cNvPr id="13" name="Image 2" descr="preencoded.png">    </p:cNvPr>
          <p:cNvPicPr>
            <a:picLocks noChangeAspect="1"/>
          </p:cNvPicPr>
          <p:nvPr/>
        </p:nvPicPr>
        <p:blipFill>
          <a:blip r:embed="rId3"/>
          <a:stretch>
            <a:fillRect/>
          </a:stretch>
        </p:blipFill>
        <p:spPr>
          <a:xfrm>
            <a:off x="760781" y="4098341"/>
            <a:ext cx="261518" cy="261518"/>
          </a:xfrm>
          <a:prstGeom prst="rect">
            <a:avLst/>
          </a:prstGeom>
        </p:spPr>
      </p:pic>
      <p:sp>
        <p:nvSpPr>
          <p:cNvPr id="14" name="Text 9"/>
          <p:cNvSpPr/>
          <p:nvPr/>
        </p:nvSpPr>
        <p:spPr>
          <a:xfrm>
            <a:off x="1325880" y="3931920"/>
            <a:ext cx="6126480" cy="320040"/>
          </a:xfrm>
          <a:prstGeom prst="rect">
            <a:avLst/>
          </a:prstGeom>
          <a:noFill/>
          <a:ln/>
        </p:spPr>
        <p:txBody>
          <a:bodyPr wrap="square" lIns="0" tIns="0" rIns="0" bIns="0" rtlCol="0" anchor="ctr"/>
          <a:lstStyle/>
          <a:p>
            <a:pPr indent="0" marL="0">
              <a:buNone/>
            </a:pPr>
            <a:r>
              <a:rPr lang="en-US" sz="1600" b="1" dirty="0">
                <a:solidFill>
                  <a:srgbClr val="201F1E"/>
                </a:solidFill>
                <a:latin typeface="Segoe UI Semibold" pitchFamily="34" charset="0"/>
                <a:ea typeface="Segoe UI Semibold" pitchFamily="34" charset="-122"/>
                <a:cs typeface="Segoe UI Semibold" pitchFamily="34" charset="-120"/>
              </a:rPr>
              <a:t>Inconsistent, error-prone data</a:t>
            </a:r>
            <a:endParaRPr lang="en-US" sz="1600" dirty="0"/>
          </a:p>
        </p:txBody>
      </p:sp>
      <p:sp>
        <p:nvSpPr>
          <p:cNvPr id="15" name="Text 10"/>
          <p:cNvSpPr/>
          <p:nvPr/>
        </p:nvSpPr>
        <p:spPr>
          <a:xfrm>
            <a:off x="1325880" y="4233672"/>
            <a:ext cx="6309360" cy="685800"/>
          </a:xfrm>
          <a:prstGeom prst="rect">
            <a:avLst/>
          </a:prstGeom>
          <a:noFill/>
          <a:ln/>
        </p:spPr>
        <p:txBody>
          <a:bodyPr wrap="square" lIns="0" tIns="0" rIns="0" bIns="0" rtlCol="0" anchor="ctr"/>
          <a:lstStyle/>
          <a:p>
            <a:pPr indent="0" marL="0">
              <a:buNone/>
            </a:pPr>
            <a:r>
              <a:rPr lang="en-US" sz="1250" dirty="0">
                <a:solidFill>
                  <a:srgbClr val="3B3A39"/>
                </a:solidFill>
                <a:latin typeface="Segoe UI" pitchFamily="34" charset="0"/>
                <a:ea typeface="Segoe UI" pitchFamily="34" charset="-122"/>
                <a:cs typeface="Segoe UI" pitchFamily="34" charset="-120"/>
              </a:rPr>
              <a:t>Handwritten notes and manual entry introduce typos and missed fields with no confidence signal or audit trail.</a:t>
            </a:r>
            <a:endParaRPr lang="en-US" sz="1250" dirty="0"/>
          </a:p>
        </p:txBody>
      </p:sp>
      <p:sp>
        <p:nvSpPr>
          <p:cNvPr id="16" name="Shape 11"/>
          <p:cNvSpPr/>
          <p:nvPr/>
        </p:nvSpPr>
        <p:spPr>
          <a:xfrm>
            <a:off x="640080" y="5029200"/>
            <a:ext cx="502920" cy="502920"/>
          </a:xfrm>
          <a:prstGeom prst="ellipse">
            <a:avLst/>
          </a:prstGeom>
          <a:solidFill>
            <a:srgbClr val="0078D4"/>
          </a:solidFill>
          <a:ln/>
        </p:spPr>
      </p:sp>
      <p:pic>
        <p:nvPicPr>
          <p:cNvPr id="17" name="Image 3" descr="preencoded.png">    </p:cNvPr>
          <p:cNvPicPr>
            <a:picLocks noChangeAspect="1"/>
          </p:cNvPicPr>
          <p:nvPr/>
        </p:nvPicPr>
        <p:blipFill>
          <a:blip r:embed="rId4"/>
          <a:stretch>
            <a:fillRect/>
          </a:stretch>
        </p:blipFill>
        <p:spPr>
          <a:xfrm>
            <a:off x="760781" y="5149901"/>
            <a:ext cx="261518" cy="261518"/>
          </a:xfrm>
          <a:prstGeom prst="rect">
            <a:avLst/>
          </a:prstGeom>
        </p:spPr>
      </p:pic>
      <p:sp>
        <p:nvSpPr>
          <p:cNvPr id="18" name="Text 12"/>
          <p:cNvSpPr/>
          <p:nvPr/>
        </p:nvSpPr>
        <p:spPr>
          <a:xfrm>
            <a:off x="1325880" y="4983480"/>
            <a:ext cx="6126480" cy="320040"/>
          </a:xfrm>
          <a:prstGeom prst="rect">
            <a:avLst/>
          </a:prstGeom>
          <a:noFill/>
          <a:ln/>
        </p:spPr>
        <p:txBody>
          <a:bodyPr wrap="square" lIns="0" tIns="0" rIns="0" bIns="0" rtlCol="0" anchor="ctr"/>
          <a:lstStyle/>
          <a:p>
            <a:pPr indent="0" marL="0">
              <a:buNone/>
            </a:pPr>
            <a:r>
              <a:rPr lang="en-US" sz="1600" b="1" dirty="0">
                <a:solidFill>
                  <a:srgbClr val="201F1E"/>
                </a:solidFill>
                <a:latin typeface="Segoe UI Semibold" pitchFamily="34" charset="0"/>
                <a:ea typeface="Segoe UI Semibold" pitchFamily="34" charset="-122"/>
                <a:cs typeface="Segoe UI Semibold" pitchFamily="34" charset="-120"/>
              </a:rPr>
              <a:t>No visibility</a:t>
            </a:r>
            <a:endParaRPr lang="en-US" sz="1600" dirty="0"/>
          </a:p>
        </p:txBody>
      </p:sp>
      <p:sp>
        <p:nvSpPr>
          <p:cNvPr id="19" name="Text 13"/>
          <p:cNvSpPr/>
          <p:nvPr/>
        </p:nvSpPr>
        <p:spPr>
          <a:xfrm>
            <a:off x="1325880" y="5285232"/>
            <a:ext cx="6309360" cy="685800"/>
          </a:xfrm>
          <a:prstGeom prst="rect">
            <a:avLst/>
          </a:prstGeom>
          <a:noFill/>
          <a:ln/>
        </p:spPr>
        <p:txBody>
          <a:bodyPr wrap="square" lIns="0" tIns="0" rIns="0" bIns="0" rtlCol="0" anchor="ctr"/>
          <a:lstStyle/>
          <a:p>
            <a:pPr indent="0" marL="0">
              <a:buNone/>
            </a:pPr>
            <a:r>
              <a:rPr lang="en-US" sz="1250" dirty="0">
                <a:solidFill>
                  <a:srgbClr val="3B3A39"/>
                </a:solidFill>
                <a:latin typeface="Segoe UI" pitchFamily="34" charset="0"/>
                <a:ea typeface="Segoe UI" pitchFamily="34" charset="-122"/>
                <a:cs typeface="Segoe UI" pitchFamily="34" charset="-120"/>
              </a:rPr>
              <a:t>There's no structured record of what arrived, when, or whether it was actually processed.</a:t>
            </a:r>
            <a:endParaRPr lang="en-US" sz="1250" dirty="0"/>
          </a:p>
        </p:txBody>
      </p:sp>
      <p:sp>
        <p:nvSpPr>
          <p:cNvPr id="20" name="Shape 14"/>
          <p:cNvSpPr/>
          <p:nvPr/>
        </p:nvSpPr>
        <p:spPr>
          <a:xfrm>
            <a:off x="8138160" y="1737360"/>
            <a:ext cx="3474720" cy="4206240"/>
          </a:xfrm>
          <a:prstGeom prst="rect">
            <a:avLst/>
          </a:prstGeom>
          <a:solidFill>
            <a:srgbClr val="201F1E"/>
          </a:solidFill>
          <a:ln/>
        </p:spPr>
      </p:sp>
      <p:sp>
        <p:nvSpPr>
          <p:cNvPr id="21" name="Text 15"/>
          <p:cNvSpPr/>
          <p:nvPr/>
        </p:nvSpPr>
        <p:spPr>
          <a:xfrm>
            <a:off x="8412480" y="1965960"/>
            <a:ext cx="2926080" cy="274320"/>
          </a:xfrm>
          <a:prstGeom prst="rect">
            <a:avLst/>
          </a:prstGeom>
          <a:noFill/>
          <a:ln/>
        </p:spPr>
        <p:txBody>
          <a:bodyPr wrap="square" lIns="0" tIns="0" rIns="0" bIns="0" rtlCol="0" anchor="ctr"/>
          <a:lstStyle/>
          <a:p>
            <a:pPr indent="0" marL="0">
              <a:buNone/>
            </a:pPr>
            <a:r>
              <a:rPr lang="en-US" sz="1100" b="1" spc="200" kern="0" dirty="0">
                <a:solidFill>
                  <a:srgbClr val="50E6FF"/>
                </a:solidFill>
                <a:latin typeface="Segoe UI" pitchFamily="34" charset="0"/>
                <a:ea typeface="Segoe UI" pitchFamily="34" charset="-122"/>
                <a:cs typeface="Segoe UI" pitchFamily="34" charset="-120"/>
              </a:rPr>
              <a:t>WHY IT MATTERS</a:t>
            </a:r>
            <a:endParaRPr lang="en-US" sz="1100" dirty="0"/>
          </a:p>
        </p:txBody>
      </p:sp>
      <p:sp>
        <p:nvSpPr>
          <p:cNvPr id="22" name="Text 16"/>
          <p:cNvSpPr/>
          <p:nvPr/>
        </p:nvSpPr>
        <p:spPr>
          <a:xfrm>
            <a:off x="8412480" y="2286000"/>
            <a:ext cx="2926080" cy="822960"/>
          </a:xfrm>
          <a:prstGeom prst="rect">
            <a:avLst/>
          </a:prstGeom>
          <a:noFill/>
          <a:ln/>
        </p:spPr>
        <p:txBody>
          <a:bodyPr wrap="square" lIns="0" tIns="0" rIns="0" bIns="0" rtlCol="0" anchor="ctr"/>
          <a:lstStyle/>
          <a:p>
            <a:pPr indent="0" marL="0">
              <a:buNone/>
            </a:pPr>
            <a:r>
              <a:rPr lang="en-US" sz="6000" b="1" dirty="0">
                <a:solidFill>
                  <a:srgbClr val="FFFFFF"/>
                </a:solidFill>
                <a:latin typeface="Segoe UI Semibold" pitchFamily="34" charset="0"/>
                <a:ea typeface="Segoe UI Semibold" pitchFamily="34" charset="-122"/>
                <a:cs typeface="Segoe UI Semibold" pitchFamily="34" charset="-120"/>
              </a:rPr>
              <a:t>70%+</a:t>
            </a:r>
            <a:endParaRPr lang="en-US" sz="6000" dirty="0"/>
          </a:p>
        </p:txBody>
      </p:sp>
      <p:sp>
        <p:nvSpPr>
          <p:cNvPr id="23" name="Text 17"/>
          <p:cNvSpPr/>
          <p:nvPr/>
        </p:nvSpPr>
        <p:spPr>
          <a:xfrm>
            <a:off x="8412480" y="3063240"/>
            <a:ext cx="2926080" cy="868680"/>
          </a:xfrm>
          <a:prstGeom prst="rect">
            <a:avLst/>
          </a:prstGeom>
          <a:noFill/>
          <a:ln/>
        </p:spPr>
        <p:txBody>
          <a:bodyPr wrap="square" lIns="0" tIns="0" rIns="0" bIns="0" rtlCol="0" anchor="ctr"/>
          <a:lstStyle/>
          <a:p>
            <a:pPr indent="0" marL="0">
              <a:buNone/>
            </a:pPr>
            <a:r>
              <a:rPr lang="en-US" sz="1150" dirty="0">
                <a:solidFill>
                  <a:srgbClr val="C8C6C4"/>
                </a:solidFill>
                <a:latin typeface="Segoe UI" pitchFamily="34" charset="0"/>
                <a:ea typeface="Segoe UI" pitchFamily="34" charset="-122"/>
                <a:cs typeface="Segoe UI" pitchFamily="34" charset="-120"/>
              </a:rPr>
              <a:t>of inbound fax volume in document-heavy industries still requires manual triage or re-keying today*</a:t>
            </a:r>
            <a:endParaRPr lang="en-US" sz="1150" dirty="0"/>
          </a:p>
        </p:txBody>
      </p:sp>
      <p:sp>
        <p:nvSpPr>
          <p:cNvPr id="24" name="Shape 18"/>
          <p:cNvSpPr/>
          <p:nvPr/>
        </p:nvSpPr>
        <p:spPr>
          <a:xfrm>
            <a:off x="8412480" y="4114800"/>
            <a:ext cx="2926080" cy="0"/>
          </a:xfrm>
          <a:prstGeom prst="line">
            <a:avLst/>
          </a:prstGeom>
          <a:noFill/>
          <a:ln w="12700">
            <a:solidFill>
              <a:srgbClr val="3B3A39"/>
            </a:solidFill>
            <a:prstDash val="solid"/>
          </a:ln>
        </p:spPr>
      </p:sp>
      <p:sp>
        <p:nvSpPr>
          <p:cNvPr id="25" name="Text 19"/>
          <p:cNvSpPr/>
          <p:nvPr/>
        </p:nvSpPr>
        <p:spPr>
          <a:xfrm>
            <a:off x="8412480" y="4251960"/>
            <a:ext cx="2926080" cy="365760"/>
          </a:xfrm>
          <a:prstGeom prst="rect">
            <a:avLst/>
          </a:prstGeom>
          <a:noFill/>
          <a:ln/>
        </p:spPr>
        <p:txBody>
          <a:bodyPr wrap="square" lIns="0" tIns="0" rIns="0" bIns="0" rtlCol="0" anchor="ctr"/>
          <a:lstStyle/>
          <a:p>
            <a:pPr indent="0" marL="0">
              <a:buNone/>
            </a:pPr>
            <a:r>
              <a:rPr lang="en-US" sz="1800" b="1" dirty="0">
                <a:solidFill>
                  <a:srgbClr val="50E6FF"/>
                </a:solidFill>
                <a:latin typeface="Segoe UI Semibold" pitchFamily="34" charset="0"/>
                <a:ea typeface="Segoe UI Semibold" pitchFamily="34" charset="-122"/>
                <a:cs typeface="Segoe UI Semibold" pitchFamily="34" charset="-120"/>
              </a:rPr>
              <a:t>Minutes → Seconds</a:t>
            </a:r>
            <a:endParaRPr lang="en-US" sz="1800" dirty="0"/>
          </a:p>
        </p:txBody>
      </p:sp>
      <p:sp>
        <p:nvSpPr>
          <p:cNvPr id="26" name="Text 20"/>
          <p:cNvSpPr/>
          <p:nvPr/>
        </p:nvSpPr>
        <p:spPr>
          <a:xfrm>
            <a:off x="8412480" y="4617720"/>
            <a:ext cx="2926080" cy="640080"/>
          </a:xfrm>
          <a:prstGeom prst="rect">
            <a:avLst/>
          </a:prstGeom>
          <a:noFill/>
          <a:ln/>
        </p:spPr>
        <p:txBody>
          <a:bodyPr wrap="square" lIns="0" tIns="0" rIns="0" bIns="0" rtlCol="0" anchor="ctr"/>
          <a:lstStyle/>
          <a:p>
            <a:pPr indent="0" marL="0">
              <a:buNone/>
            </a:pPr>
            <a:r>
              <a:rPr lang="en-US" sz="1150" dirty="0">
                <a:solidFill>
                  <a:srgbClr val="C8C6C4"/>
                </a:solidFill>
                <a:latin typeface="Segoe UI" pitchFamily="34" charset="0"/>
                <a:ea typeface="Segoe UI" pitchFamily="34" charset="-122"/>
                <a:cs typeface="Segoe UI" pitchFamily="34" charset="-120"/>
              </a:rPr>
              <a:t>potential reduction in time from fax arrival to structured, actionable data</a:t>
            </a:r>
            <a:endParaRPr lang="en-US" sz="1150" dirty="0"/>
          </a:p>
        </p:txBody>
      </p:sp>
      <p:sp>
        <p:nvSpPr>
          <p:cNvPr id="27" name="Text 21"/>
          <p:cNvSpPr/>
          <p:nvPr/>
        </p:nvSpPr>
        <p:spPr>
          <a:xfrm>
            <a:off x="8412480" y="5349240"/>
            <a:ext cx="3063240" cy="457200"/>
          </a:xfrm>
          <a:prstGeom prst="rect">
            <a:avLst/>
          </a:prstGeom>
          <a:noFill/>
          <a:ln/>
        </p:spPr>
        <p:txBody>
          <a:bodyPr wrap="square" lIns="0" tIns="0" rIns="0" bIns="0" rtlCol="0" anchor="ctr"/>
          <a:lstStyle/>
          <a:p>
            <a:pPr indent="0" marL="0">
              <a:buNone/>
            </a:pPr>
            <a:r>
              <a:rPr lang="en-US" sz="850" i="1" dirty="0">
                <a:solidFill>
                  <a:srgbClr val="8A8886"/>
                </a:solidFill>
                <a:latin typeface="Segoe UI" pitchFamily="34" charset="0"/>
                <a:ea typeface="Segoe UI" pitchFamily="34" charset="-122"/>
                <a:cs typeface="Segoe UI" pitchFamily="34" charset="-120"/>
              </a:rPr>
              <a:t>*Illustrative example — align to your organization's actual volume and turnaround metrics.</a:t>
            </a:r>
            <a:endParaRPr lang="en-US" sz="850" dirty="0"/>
          </a:p>
        </p:txBody>
      </p:sp>
      <p:sp>
        <p:nvSpPr>
          <p:cNvPr id="28" name="Text 22"/>
          <p:cNvSpPr/>
          <p:nvPr/>
        </p:nvSpPr>
        <p:spPr>
          <a:xfrm>
            <a:off x="457200" y="6419088"/>
            <a:ext cx="7315200" cy="274320"/>
          </a:xfrm>
          <a:prstGeom prst="rect">
            <a:avLst/>
          </a:prstGeom>
          <a:noFill/>
          <a:ln/>
        </p:spPr>
        <p:txBody>
          <a:bodyPr wrap="square" lIns="0" tIns="0" rIns="0" bIns="0" rtlCol="0" anchor="ctr"/>
          <a:lstStyle/>
          <a:p>
            <a:pPr indent="0" marL="0">
              <a:buNone/>
            </a:pPr>
            <a:r>
              <a:rPr lang="en-US" sz="900" dirty="0">
                <a:solidFill>
                  <a:srgbClr val="605E5C"/>
                </a:solidFill>
                <a:latin typeface="Segoe UI" pitchFamily="34" charset="0"/>
                <a:ea typeface="Segoe UI" pitchFamily="34" charset="-122"/>
                <a:cs typeface="Segoe UI" pitchFamily="34" charset="-120"/>
              </a:rPr>
              <a:t>Fax Ingest &amp; Extraction with Azure Content Understanding</a:t>
            </a:r>
            <a:endParaRPr lang="en-US" sz="900" dirty="0"/>
          </a:p>
        </p:txBody>
      </p:sp>
      <p:sp>
        <p:nvSpPr>
          <p:cNvPr id="29" name="Text 23"/>
          <p:cNvSpPr/>
          <p:nvPr/>
        </p:nvSpPr>
        <p:spPr>
          <a:xfrm>
            <a:off x="11247120" y="6419088"/>
            <a:ext cx="457200" cy="274320"/>
          </a:xfrm>
          <a:prstGeom prst="rect">
            <a:avLst/>
          </a:prstGeom>
          <a:noFill/>
          <a:ln/>
        </p:spPr>
        <p:txBody>
          <a:bodyPr wrap="square" lIns="0" tIns="0" rIns="0" bIns="0" rtlCol="0" anchor="ctr"/>
          <a:lstStyle/>
          <a:p>
            <a:pPr algn="r" indent="0" marL="0">
              <a:buNone/>
            </a:pPr>
            <a:r>
              <a:rPr lang="en-US" sz="900" dirty="0">
                <a:solidFill>
                  <a:srgbClr val="605E5C"/>
                </a:solidFill>
                <a:latin typeface="Segoe UI" pitchFamily="34" charset="0"/>
                <a:ea typeface="Segoe UI" pitchFamily="34" charset="-122"/>
                <a:cs typeface="Segoe U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1A19"/>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50E6FF"/>
                </a:solidFill>
                <a:latin typeface="Segoe UI" pitchFamily="34" charset="0"/>
                <a:ea typeface="Segoe UI" pitchFamily="34" charset="-122"/>
                <a:cs typeface="Segoe UI" pitchFamily="34" charset="-120"/>
              </a:rPr>
              <a:t>THE SOLUTION</a:t>
            </a:r>
            <a:endParaRPr lang="en-US" sz="1300" dirty="0"/>
          </a:p>
        </p:txBody>
      </p:sp>
      <p:sp>
        <p:nvSpPr>
          <p:cNvPr id="3" name="Text 1"/>
          <p:cNvSpPr/>
          <p:nvPr/>
        </p:nvSpPr>
        <p:spPr>
          <a:xfrm>
            <a:off x="548640" y="658368"/>
            <a:ext cx="10515600" cy="777240"/>
          </a:xfrm>
          <a:prstGeom prst="rect">
            <a:avLst/>
          </a:prstGeom>
          <a:noFill/>
          <a:ln/>
        </p:spPr>
        <p:txBody>
          <a:bodyPr wrap="square" lIns="0" tIns="0" rIns="0" bIns="0" rtlCol="0" anchor="ctr"/>
          <a:lstStyle/>
          <a:p>
            <a:pPr indent="0" marL="0">
              <a:buNone/>
            </a:pPr>
            <a:r>
              <a:rPr lang="en-US" sz="3200" b="1" dirty="0">
                <a:solidFill>
                  <a:srgbClr val="F3F2F1"/>
                </a:solidFill>
                <a:latin typeface="Segoe UI Semibold" pitchFamily="34" charset="0"/>
                <a:ea typeface="Segoe UI Semibold" pitchFamily="34" charset="-122"/>
                <a:cs typeface="Segoe UI Semibold" pitchFamily="34" charset="-120"/>
              </a:rPr>
              <a:t>An automated pipeline — no application code to maintain</a:t>
            </a:r>
            <a:endParaRPr lang="en-US" sz="3200" dirty="0"/>
          </a:p>
        </p:txBody>
      </p:sp>
      <p:sp>
        <p:nvSpPr>
          <p:cNvPr id="4" name="Text 2"/>
          <p:cNvSpPr/>
          <p:nvPr/>
        </p:nvSpPr>
        <p:spPr>
          <a:xfrm>
            <a:off x="548640" y="1691640"/>
            <a:ext cx="10789920" cy="548640"/>
          </a:xfrm>
          <a:prstGeom prst="rect">
            <a:avLst/>
          </a:prstGeom>
          <a:noFill/>
          <a:ln/>
        </p:spPr>
        <p:txBody>
          <a:bodyPr wrap="square" lIns="0" tIns="0" rIns="0" bIns="0" rtlCol="0" anchor="ctr"/>
          <a:lstStyle/>
          <a:p>
            <a:pPr indent="0" marL="0">
              <a:buNone/>
            </a:pPr>
            <a:r>
              <a:rPr lang="en-US" sz="1400" dirty="0">
                <a:solidFill>
                  <a:srgbClr val="C8C6C4"/>
                </a:solidFill>
                <a:latin typeface="Segoe UI" pitchFamily="34" charset="0"/>
                <a:ea typeface="Segoe UI" pitchFamily="34" charset="-122"/>
                <a:cs typeface="Segoe UI" pitchFamily="34" charset="-120"/>
              </a:rPr>
              <a:t>Every step uses managed Azure services wired together with configuration, not custom application code — so the pipeline is easy to operate, secure by default, and quick to extend.</a:t>
            </a:r>
            <a:endParaRPr lang="en-US" sz="1400" dirty="0"/>
          </a:p>
        </p:txBody>
      </p:sp>
      <p:sp>
        <p:nvSpPr>
          <p:cNvPr id="5" name="Shape 3"/>
          <p:cNvSpPr/>
          <p:nvPr/>
        </p:nvSpPr>
        <p:spPr>
          <a:xfrm>
            <a:off x="548640" y="2423160"/>
            <a:ext cx="2468880" cy="3291840"/>
          </a:xfrm>
          <a:prstGeom prst="roundRect">
            <a:avLst>
              <a:gd name="adj" fmla="val 2222"/>
            </a:avLst>
          </a:prstGeom>
          <a:solidFill>
            <a:srgbClr val="252423"/>
          </a:solidFill>
          <a:ln w="12700">
            <a:solidFill>
              <a:srgbClr val="3B3A39"/>
            </a:solidFill>
            <a:prstDash val="solid"/>
          </a:ln>
        </p:spPr>
      </p:sp>
      <p:sp>
        <p:nvSpPr>
          <p:cNvPr id="6" name="Shape 4"/>
          <p:cNvSpPr/>
          <p:nvPr/>
        </p:nvSpPr>
        <p:spPr>
          <a:xfrm>
            <a:off x="777240" y="2697480"/>
            <a:ext cx="594360" cy="594360"/>
          </a:xfrm>
          <a:prstGeom prst="ellipse">
            <a:avLst/>
          </a:prstGeom>
          <a:solidFill>
            <a:srgbClr val="0078D4"/>
          </a:solidFill>
          <a:ln/>
        </p:spPr>
      </p:sp>
      <p:pic>
        <p:nvPicPr>
          <p:cNvPr id="7" name="Image 0" descr="preencoded.png">    </p:cNvPr>
          <p:cNvPicPr>
            <a:picLocks noChangeAspect="1"/>
          </p:cNvPicPr>
          <p:nvPr/>
        </p:nvPicPr>
        <p:blipFill>
          <a:blip r:embed="rId1"/>
          <a:stretch>
            <a:fillRect/>
          </a:stretch>
        </p:blipFill>
        <p:spPr>
          <a:xfrm>
            <a:off x="919886" y="2840126"/>
            <a:ext cx="309067" cy="309067"/>
          </a:xfrm>
          <a:prstGeom prst="rect">
            <a:avLst/>
          </a:prstGeom>
        </p:spPr>
      </p:pic>
      <p:sp>
        <p:nvSpPr>
          <p:cNvPr id="8" name="Text 5"/>
          <p:cNvSpPr/>
          <p:nvPr/>
        </p:nvSpPr>
        <p:spPr>
          <a:xfrm>
            <a:off x="777240" y="3474720"/>
            <a:ext cx="2011680" cy="365760"/>
          </a:xfrm>
          <a:prstGeom prst="rect">
            <a:avLst/>
          </a:prstGeom>
          <a:noFill/>
          <a:ln/>
        </p:spPr>
        <p:txBody>
          <a:bodyPr wrap="square" lIns="0" tIns="0" rIns="0" bIns="0" rtlCol="0" anchor="ctr"/>
          <a:lstStyle/>
          <a:p>
            <a:pPr indent="0" marL="0">
              <a:buNone/>
            </a:pPr>
            <a:r>
              <a:rPr lang="en-US" sz="1600" b="1" dirty="0">
                <a:solidFill>
                  <a:srgbClr val="F3F2F1"/>
                </a:solidFill>
                <a:latin typeface="Segoe UI Semibold" pitchFamily="34" charset="0"/>
                <a:ea typeface="Segoe UI Semibold" pitchFamily="34" charset="-122"/>
                <a:cs typeface="Segoe UI Semibold" pitchFamily="34" charset="-120"/>
              </a:rPr>
              <a:t>1. Ingest</a:t>
            </a:r>
            <a:endParaRPr lang="en-US" sz="1600" dirty="0"/>
          </a:p>
        </p:txBody>
      </p:sp>
      <p:sp>
        <p:nvSpPr>
          <p:cNvPr id="9" name="Text 6"/>
          <p:cNvSpPr/>
          <p:nvPr/>
        </p:nvSpPr>
        <p:spPr>
          <a:xfrm>
            <a:off x="777240" y="3886200"/>
            <a:ext cx="2011680" cy="1737360"/>
          </a:xfrm>
          <a:prstGeom prst="rect">
            <a:avLst/>
          </a:prstGeom>
          <a:noFill/>
          <a:ln/>
        </p:spPr>
        <p:txBody>
          <a:bodyPr wrap="square" lIns="0" tIns="0" rIns="0" bIns="0" rtlCol="0" anchor="ctr"/>
          <a:lstStyle/>
          <a:p>
            <a:pPr indent="0" marL="0">
              <a:buNone/>
            </a:pPr>
            <a:r>
              <a:rPr lang="en-US" sz="1200" dirty="0">
                <a:solidFill>
                  <a:srgbClr val="C8C6C4"/>
                </a:solidFill>
                <a:latin typeface="Segoe UI" pitchFamily="34" charset="0"/>
                <a:ea typeface="Segoe UI" pitchFamily="34" charset="-122"/>
                <a:cs typeface="Segoe UI" pitchFamily="34" charset="-120"/>
              </a:rPr>
              <a:t>A file is uploaded from a local folder via a Power Automate flow into Blob Storage.</a:t>
            </a:r>
            <a:endParaRPr lang="en-US" sz="1200" dirty="0"/>
          </a:p>
        </p:txBody>
      </p:sp>
      <p:pic>
        <p:nvPicPr>
          <p:cNvPr id="10" name="Image 1" descr="preencoded.png">    </p:cNvPr>
          <p:cNvPicPr>
            <a:picLocks noChangeAspect="1"/>
          </p:cNvPicPr>
          <p:nvPr/>
        </p:nvPicPr>
        <p:blipFill>
          <a:blip r:embed="rId2"/>
          <a:stretch>
            <a:fillRect/>
          </a:stretch>
        </p:blipFill>
        <p:spPr>
          <a:xfrm>
            <a:off x="3035808" y="3950208"/>
            <a:ext cx="219456" cy="219456"/>
          </a:xfrm>
          <a:prstGeom prst="rect">
            <a:avLst/>
          </a:prstGeom>
        </p:spPr>
      </p:pic>
      <p:sp>
        <p:nvSpPr>
          <p:cNvPr id="11" name="Shape 7"/>
          <p:cNvSpPr/>
          <p:nvPr/>
        </p:nvSpPr>
        <p:spPr>
          <a:xfrm>
            <a:off x="3337560" y="2423160"/>
            <a:ext cx="2468880" cy="3291840"/>
          </a:xfrm>
          <a:prstGeom prst="roundRect">
            <a:avLst>
              <a:gd name="adj" fmla="val 2222"/>
            </a:avLst>
          </a:prstGeom>
          <a:solidFill>
            <a:srgbClr val="252423"/>
          </a:solidFill>
          <a:ln w="12700">
            <a:solidFill>
              <a:srgbClr val="3B3A39"/>
            </a:solidFill>
            <a:prstDash val="solid"/>
          </a:ln>
        </p:spPr>
      </p:sp>
      <p:sp>
        <p:nvSpPr>
          <p:cNvPr id="12" name="Shape 8"/>
          <p:cNvSpPr/>
          <p:nvPr/>
        </p:nvSpPr>
        <p:spPr>
          <a:xfrm>
            <a:off x="3566160" y="2697480"/>
            <a:ext cx="594360" cy="594360"/>
          </a:xfrm>
          <a:prstGeom prst="ellipse">
            <a:avLst/>
          </a:prstGeom>
          <a:solidFill>
            <a:srgbClr val="0078D4"/>
          </a:solidFill>
          <a:ln/>
        </p:spPr>
      </p:sp>
      <p:pic>
        <p:nvPicPr>
          <p:cNvPr id="13" name="Image 2" descr="preencoded.png">    </p:cNvPr>
          <p:cNvPicPr>
            <a:picLocks noChangeAspect="1"/>
          </p:cNvPicPr>
          <p:nvPr/>
        </p:nvPicPr>
        <p:blipFill>
          <a:blip r:embed="rId3"/>
          <a:stretch>
            <a:fillRect/>
          </a:stretch>
        </p:blipFill>
        <p:spPr>
          <a:xfrm>
            <a:off x="3708806" y="2840126"/>
            <a:ext cx="309067" cy="309067"/>
          </a:xfrm>
          <a:prstGeom prst="rect">
            <a:avLst/>
          </a:prstGeom>
        </p:spPr>
      </p:pic>
      <p:sp>
        <p:nvSpPr>
          <p:cNvPr id="14" name="Text 9"/>
          <p:cNvSpPr/>
          <p:nvPr/>
        </p:nvSpPr>
        <p:spPr>
          <a:xfrm>
            <a:off x="3566160" y="3474720"/>
            <a:ext cx="2011680" cy="365760"/>
          </a:xfrm>
          <a:prstGeom prst="rect">
            <a:avLst/>
          </a:prstGeom>
          <a:noFill/>
          <a:ln/>
        </p:spPr>
        <p:txBody>
          <a:bodyPr wrap="square" lIns="0" tIns="0" rIns="0" bIns="0" rtlCol="0" anchor="ctr"/>
          <a:lstStyle/>
          <a:p>
            <a:pPr indent="0" marL="0">
              <a:buNone/>
            </a:pPr>
            <a:r>
              <a:rPr lang="en-US" sz="1600" b="1" dirty="0">
                <a:solidFill>
                  <a:srgbClr val="F3F2F1"/>
                </a:solidFill>
                <a:latin typeface="Segoe UI Semibold" pitchFamily="34" charset="0"/>
                <a:ea typeface="Segoe UI Semibold" pitchFamily="34" charset="-122"/>
                <a:cs typeface="Segoe UI Semibold" pitchFamily="34" charset="-120"/>
              </a:rPr>
              <a:t>2. Trigger</a:t>
            </a:r>
            <a:endParaRPr lang="en-US" sz="1600" dirty="0"/>
          </a:p>
        </p:txBody>
      </p:sp>
      <p:sp>
        <p:nvSpPr>
          <p:cNvPr id="15" name="Text 10"/>
          <p:cNvSpPr/>
          <p:nvPr/>
        </p:nvSpPr>
        <p:spPr>
          <a:xfrm>
            <a:off x="3566160" y="3886200"/>
            <a:ext cx="2011680" cy="1737360"/>
          </a:xfrm>
          <a:prstGeom prst="rect">
            <a:avLst/>
          </a:prstGeom>
          <a:noFill/>
          <a:ln/>
        </p:spPr>
        <p:txBody>
          <a:bodyPr wrap="square" lIns="0" tIns="0" rIns="0" bIns="0" rtlCol="0" anchor="ctr"/>
          <a:lstStyle/>
          <a:p>
            <a:pPr indent="0" marL="0">
              <a:buNone/>
            </a:pPr>
            <a:r>
              <a:rPr lang="en-US" sz="1200" dirty="0">
                <a:solidFill>
                  <a:srgbClr val="C8C6C4"/>
                </a:solidFill>
                <a:latin typeface="Segoe UI" pitchFamily="34" charset="0"/>
                <a:ea typeface="Segoe UI" pitchFamily="34" charset="-122"/>
                <a:cs typeface="Segoe UI" pitchFamily="34" charset="-120"/>
              </a:rPr>
              <a:t>The new blob automatically triggers a Logic App — no polling scripts to run.</a:t>
            </a:r>
            <a:endParaRPr lang="en-US" sz="1200" dirty="0"/>
          </a:p>
        </p:txBody>
      </p:sp>
      <p:pic>
        <p:nvPicPr>
          <p:cNvPr id="16" name="Image 3" descr="preencoded.png">    </p:cNvPr>
          <p:cNvPicPr>
            <a:picLocks noChangeAspect="1"/>
          </p:cNvPicPr>
          <p:nvPr/>
        </p:nvPicPr>
        <p:blipFill>
          <a:blip r:embed="rId4"/>
          <a:stretch>
            <a:fillRect/>
          </a:stretch>
        </p:blipFill>
        <p:spPr>
          <a:xfrm>
            <a:off x="5824728" y="3950208"/>
            <a:ext cx="219456" cy="219456"/>
          </a:xfrm>
          <a:prstGeom prst="rect">
            <a:avLst/>
          </a:prstGeom>
        </p:spPr>
      </p:pic>
      <p:sp>
        <p:nvSpPr>
          <p:cNvPr id="17" name="Shape 11"/>
          <p:cNvSpPr/>
          <p:nvPr/>
        </p:nvSpPr>
        <p:spPr>
          <a:xfrm>
            <a:off x="6126480" y="2423160"/>
            <a:ext cx="2468880" cy="3291840"/>
          </a:xfrm>
          <a:prstGeom prst="roundRect">
            <a:avLst>
              <a:gd name="adj" fmla="val 2222"/>
            </a:avLst>
          </a:prstGeom>
          <a:solidFill>
            <a:srgbClr val="252423"/>
          </a:solidFill>
          <a:ln w="12700">
            <a:solidFill>
              <a:srgbClr val="3B3A39"/>
            </a:solidFill>
            <a:prstDash val="solid"/>
          </a:ln>
        </p:spPr>
      </p:sp>
      <p:sp>
        <p:nvSpPr>
          <p:cNvPr id="18" name="Shape 12"/>
          <p:cNvSpPr/>
          <p:nvPr/>
        </p:nvSpPr>
        <p:spPr>
          <a:xfrm>
            <a:off x="6355080" y="2697480"/>
            <a:ext cx="594360" cy="594360"/>
          </a:xfrm>
          <a:prstGeom prst="ellipse">
            <a:avLst/>
          </a:prstGeom>
          <a:solidFill>
            <a:srgbClr val="0078D4"/>
          </a:solidFill>
          <a:ln/>
        </p:spPr>
      </p:sp>
      <p:pic>
        <p:nvPicPr>
          <p:cNvPr id="19" name="Image 4" descr="preencoded.png">    </p:cNvPr>
          <p:cNvPicPr>
            <a:picLocks noChangeAspect="1"/>
          </p:cNvPicPr>
          <p:nvPr/>
        </p:nvPicPr>
        <p:blipFill>
          <a:blip r:embed="rId5"/>
          <a:stretch>
            <a:fillRect/>
          </a:stretch>
        </p:blipFill>
        <p:spPr>
          <a:xfrm>
            <a:off x="6497726" y="2840126"/>
            <a:ext cx="309067" cy="309067"/>
          </a:xfrm>
          <a:prstGeom prst="rect">
            <a:avLst/>
          </a:prstGeom>
        </p:spPr>
      </p:pic>
      <p:sp>
        <p:nvSpPr>
          <p:cNvPr id="20" name="Text 13"/>
          <p:cNvSpPr/>
          <p:nvPr/>
        </p:nvSpPr>
        <p:spPr>
          <a:xfrm>
            <a:off x="6355080" y="3474720"/>
            <a:ext cx="2011680" cy="365760"/>
          </a:xfrm>
          <a:prstGeom prst="rect">
            <a:avLst/>
          </a:prstGeom>
          <a:noFill/>
          <a:ln/>
        </p:spPr>
        <p:txBody>
          <a:bodyPr wrap="square" lIns="0" tIns="0" rIns="0" bIns="0" rtlCol="0" anchor="ctr"/>
          <a:lstStyle/>
          <a:p>
            <a:pPr indent="0" marL="0">
              <a:buNone/>
            </a:pPr>
            <a:r>
              <a:rPr lang="en-US" sz="1600" b="1" dirty="0">
                <a:solidFill>
                  <a:srgbClr val="F3F2F1"/>
                </a:solidFill>
                <a:latin typeface="Segoe UI Semibold" pitchFamily="34" charset="0"/>
                <a:ea typeface="Segoe UI Semibold" pitchFamily="34" charset="-122"/>
                <a:cs typeface="Segoe UI Semibold" pitchFamily="34" charset="-120"/>
              </a:rPr>
              <a:t>3. Extract</a:t>
            </a:r>
            <a:endParaRPr lang="en-US" sz="1600" dirty="0"/>
          </a:p>
        </p:txBody>
      </p:sp>
      <p:sp>
        <p:nvSpPr>
          <p:cNvPr id="21" name="Text 14"/>
          <p:cNvSpPr/>
          <p:nvPr/>
        </p:nvSpPr>
        <p:spPr>
          <a:xfrm>
            <a:off x="6355080" y="3886200"/>
            <a:ext cx="2011680" cy="1737360"/>
          </a:xfrm>
          <a:prstGeom prst="rect">
            <a:avLst/>
          </a:prstGeom>
          <a:noFill/>
          <a:ln/>
        </p:spPr>
        <p:txBody>
          <a:bodyPr wrap="square" lIns="0" tIns="0" rIns="0" bIns="0" rtlCol="0" anchor="ctr"/>
          <a:lstStyle/>
          <a:p>
            <a:pPr indent="0" marL="0">
              <a:buNone/>
            </a:pPr>
            <a:r>
              <a:rPr lang="en-US" sz="1200" dirty="0">
                <a:solidFill>
                  <a:srgbClr val="C8C6C4"/>
                </a:solidFill>
                <a:latin typeface="Segoe UI" pitchFamily="34" charset="0"/>
                <a:ea typeface="Segoe UI" pitchFamily="34" charset="-122"/>
                <a:cs typeface="Segoe UI" pitchFamily="34" charset="-120"/>
              </a:rPr>
              <a:t>Azure Content Understanding reads the document and returns structured fields with confidence scores.</a:t>
            </a:r>
            <a:endParaRPr lang="en-US" sz="1200" dirty="0"/>
          </a:p>
        </p:txBody>
      </p:sp>
      <p:pic>
        <p:nvPicPr>
          <p:cNvPr id="22" name="Image 5" descr="preencoded.png">    </p:cNvPr>
          <p:cNvPicPr>
            <a:picLocks noChangeAspect="1"/>
          </p:cNvPicPr>
          <p:nvPr/>
        </p:nvPicPr>
        <p:blipFill>
          <a:blip r:embed="rId6"/>
          <a:stretch>
            <a:fillRect/>
          </a:stretch>
        </p:blipFill>
        <p:spPr>
          <a:xfrm>
            <a:off x="8613648" y="3950208"/>
            <a:ext cx="219456" cy="219456"/>
          </a:xfrm>
          <a:prstGeom prst="rect">
            <a:avLst/>
          </a:prstGeom>
        </p:spPr>
      </p:pic>
      <p:sp>
        <p:nvSpPr>
          <p:cNvPr id="23" name="Shape 15"/>
          <p:cNvSpPr/>
          <p:nvPr/>
        </p:nvSpPr>
        <p:spPr>
          <a:xfrm>
            <a:off x="8915400" y="2423160"/>
            <a:ext cx="2468880" cy="3291840"/>
          </a:xfrm>
          <a:prstGeom prst="roundRect">
            <a:avLst>
              <a:gd name="adj" fmla="val 2222"/>
            </a:avLst>
          </a:prstGeom>
          <a:solidFill>
            <a:srgbClr val="252423"/>
          </a:solidFill>
          <a:ln w="12700">
            <a:solidFill>
              <a:srgbClr val="3B3A39"/>
            </a:solidFill>
            <a:prstDash val="solid"/>
          </a:ln>
        </p:spPr>
      </p:sp>
      <p:sp>
        <p:nvSpPr>
          <p:cNvPr id="24" name="Shape 16"/>
          <p:cNvSpPr/>
          <p:nvPr/>
        </p:nvSpPr>
        <p:spPr>
          <a:xfrm>
            <a:off x="9144000" y="2697480"/>
            <a:ext cx="594360" cy="594360"/>
          </a:xfrm>
          <a:prstGeom prst="ellipse">
            <a:avLst/>
          </a:prstGeom>
          <a:solidFill>
            <a:srgbClr val="0078D4"/>
          </a:solidFill>
          <a:ln/>
        </p:spPr>
      </p:sp>
      <p:pic>
        <p:nvPicPr>
          <p:cNvPr id="25" name="Image 6" descr="preencoded.png">    </p:cNvPr>
          <p:cNvPicPr>
            <a:picLocks noChangeAspect="1"/>
          </p:cNvPicPr>
          <p:nvPr/>
        </p:nvPicPr>
        <p:blipFill>
          <a:blip r:embed="rId7"/>
          <a:stretch>
            <a:fillRect/>
          </a:stretch>
        </p:blipFill>
        <p:spPr>
          <a:xfrm>
            <a:off x="9286646" y="2840126"/>
            <a:ext cx="309067" cy="309067"/>
          </a:xfrm>
          <a:prstGeom prst="rect">
            <a:avLst/>
          </a:prstGeom>
        </p:spPr>
      </p:pic>
      <p:sp>
        <p:nvSpPr>
          <p:cNvPr id="26" name="Text 17"/>
          <p:cNvSpPr/>
          <p:nvPr/>
        </p:nvSpPr>
        <p:spPr>
          <a:xfrm>
            <a:off x="9144000" y="3474720"/>
            <a:ext cx="2011680" cy="365760"/>
          </a:xfrm>
          <a:prstGeom prst="rect">
            <a:avLst/>
          </a:prstGeom>
          <a:noFill/>
          <a:ln/>
        </p:spPr>
        <p:txBody>
          <a:bodyPr wrap="square" lIns="0" tIns="0" rIns="0" bIns="0" rtlCol="0" anchor="ctr"/>
          <a:lstStyle/>
          <a:p>
            <a:pPr indent="0" marL="0">
              <a:buNone/>
            </a:pPr>
            <a:r>
              <a:rPr lang="en-US" sz="1600" b="1" dirty="0">
                <a:solidFill>
                  <a:srgbClr val="F3F2F1"/>
                </a:solidFill>
                <a:latin typeface="Segoe UI Semibold" pitchFamily="34" charset="0"/>
                <a:ea typeface="Segoe UI Semibold" pitchFamily="34" charset="-122"/>
                <a:cs typeface="Segoe UI Semibold" pitchFamily="34" charset="-120"/>
              </a:rPr>
              <a:t>4. Deliver</a:t>
            </a:r>
            <a:endParaRPr lang="en-US" sz="1600" dirty="0"/>
          </a:p>
        </p:txBody>
      </p:sp>
      <p:sp>
        <p:nvSpPr>
          <p:cNvPr id="27" name="Text 18"/>
          <p:cNvSpPr/>
          <p:nvPr/>
        </p:nvSpPr>
        <p:spPr>
          <a:xfrm>
            <a:off x="9144000" y="3886200"/>
            <a:ext cx="2011680" cy="1737360"/>
          </a:xfrm>
          <a:prstGeom prst="rect">
            <a:avLst/>
          </a:prstGeom>
          <a:noFill/>
          <a:ln/>
        </p:spPr>
        <p:txBody>
          <a:bodyPr wrap="square" lIns="0" tIns="0" rIns="0" bIns="0" rtlCol="0" anchor="ctr"/>
          <a:lstStyle/>
          <a:p>
            <a:pPr indent="0" marL="0">
              <a:buNone/>
            </a:pPr>
            <a:r>
              <a:rPr lang="en-US" sz="1200" dirty="0">
                <a:solidFill>
                  <a:srgbClr val="C8C6C4"/>
                </a:solidFill>
                <a:latin typeface="Segoe UI" pitchFamily="34" charset="0"/>
                <a:ea typeface="Segoe UI" pitchFamily="34" charset="-122"/>
                <a:cs typeface="Segoe UI" pitchFamily="34" charset="-120"/>
              </a:rPr>
              <a:t>The Logic App writes the completed JSON result back to a Processed folder, ready for downstream systems.</a:t>
            </a:r>
            <a:endParaRPr lang="en-US" sz="1200" dirty="0"/>
          </a:p>
        </p:txBody>
      </p:sp>
      <p:sp>
        <p:nvSpPr>
          <p:cNvPr id="28" name="Text 19"/>
          <p:cNvSpPr/>
          <p:nvPr/>
        </p:nvSpPr>
        <p:spPr>
          <a:xfrm>
            <a:off x="457200" y="6419088"/>
            <a:ext cx="7315200" cy="274320"/>
          </a:xfrm>
          <a:prstGeom prst="rect">
            <a:avLst/>
          </a:prstGeom>
          <a:noFill/>
          <a:ln/>
        </p:spPr>
        <p:txBody>
          <a:bodyPr wrap="square" lIns="0" tIns="0" rIns="0" bIns="0" rtlCol="0" anchor="ctr"/>
          <a:lstStyle/>
          <a:p>
            <a:pPr indent="0" marL="0">
              <a:buNone/>
            </a:pPr>
            <a:r>
              <a:rPr lang="en-US" sz="900" dirty="0">
                <a:solidFill>
                  <a:srgbClr val="8A8886"/>
                </a:solidFill>
                <a:latin typeface="Segoe UI" pitchFamily="34" charset="0"/>
                <a:ea typeface="Segoe UI" pitchFamily="34" charset="-122"/>
                <a:cs typeface="Segoe UI" pitchFamily="34" charset="-120"/>
              </a:rPr>
              <a:t>Fax Ingest &amp; Extraction with Azure Content Understanding</a:t>
            </a:r>
            <a:endParaRPr lang="en-US" sz="900" dirty="0"/>
          </a:p>
        </p:txBody>
      </p:sp>
      <p:sp>
        <p:nvSpPr>
          <p:cNvPr id="29" name="Text 20"/>
          <p:cNvSpPr/>
          <p:nvPr/>
        </p:nvSpPr>
        <p:spPr>
          <a:xfrm>
            <a:off x="11247120" y="6419088"/>
            <a:ext cx="457200" cy="274320"/>
          </a:xfrm>
          <a:prstGeom prst="rect">
            <a:avLst/>
          </a:prstGeom>
          <a:noFill/>
          <a:ln/>
        </p:spPr>
        <p:txBody>
          <a:bodyPr wrap="square" lIns="0" tIns="0" rIns="0" bIns="0" rtlCol="0" anchor="ctr"/>
          <a:lstStyle/>
          <a:p>
            <a:pPr algn="r" indent="0" marL="0">
              <a:buNone/>
            </a:pPr>
            <a:r>
              <a:rPr lang="en-US" sz="900" dirty="0">
                <a:solidFill>
                  <a:srgbClr val="8A8886"/>
                </a:solidFill>
                <a:latin typeface="Segoe UI" pitchFamily="34" charset="0"/>
                <a:ea typeface="Segoe UI" pitchFamily="34" charset="-122"/>
                <a:cs typeface="Segoe U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1A19"/>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50E6FF"/>
                </a:solidFill>
                <a:latin typeface="Segoe UI" pitchFamily="34" charset="0"/>
                <a:ea typeface="Segoe UI" pitchFamily="34" charset="-122"/>
                <a:cs typeface="Segoe UI" pitchFamily="34" charset="-120"/>
              </a:rPr>
              <a:t>ARCHITECTURE</a:t>
            </a:r>
            <a:endParaRPr lang="en-US" sz="1300" dirty="0"/>
          </a:p>
        </p:txBody>
      </p:sp>
      <p:sp>
        <p:nvSpPr>
          <p:cNvPr id="3" name="Text 1"/>
          <p:cNvSpPr/>
          <p:nvPr/>
        </p:nvSpPr>
        <p:spPr>
          <a:xfrm>
            <a:off x="548640" y="658368"/>
            <a:ext cx="10515600" cy="777240"/>
          </a:xfrm>
          <a:prstGeom prst="rect">
            <a:avLst/>
          </a:prstGeom>
          <a:noFill/>
          <a:ln/>
        </p:spPr>
        <p:txBody>
          <a:bodyPr wrap="square" lIns="0" tIns="0" rIns="0" bIns="0" rtlCol="0" anchor="ctr"/>
          <a:lstStyle/>
          <a:p>
            <a:pPr indent="0" marL="0">
              <a:buNone/>
            </a:pPr>
            <a:r>
              <a:rPr lang="en-US" sz="3200" b="1" dirty="0">
                <a:solidFill>
                  <a:srgbClr val="F3F2F1"/>
                </a:solidFill>
                <a:latin typeface="Segoe UI Semibold" pitchFamily="34" charset="0"/>
                <a:ea typeface="Segoe UI Semibold" pitchFamily="34" charset="-122"/>
                <a:cs typeface="Segoe UI Semibold" pitchFamily="34" charset="-120"/>
              </a:rPr>
              <a:t>How the pieces fit together</a:t>
            </a:r>
            <a:endParaRPr lang="en-US" sz="3200" dirty="0"/>
          </a:p>
        </p:txBody>
      </p:sp>
      <p:sp>
        <p:nvSpPr>
          <p:cNvPr id="4" name="Shape 2"/>
          <p:cNvSpPr/>
          <p:nvPr/>
        </p:nvSpPr>
        <p:spPr>
          <a:xfrm>
            <a:off x="457200" y="2377440"/>
            <a:ext cx="1874520" cy="1188720"/>
          </a:xfrm>
          <a:prstGeom prst="roundRect">
            <a:avLst>
              <a:gd name="adj" fmla="val 4615"/>
            </a:avLst>
          </a:prstGeom>
          <a:solidFill>
            <a:srgbClr val="2A2928"/>
          </a:solidFill>
          <a:ln w="12700">
            <a:solidFill>
              <a:srgbClr val="3B3A39"/>
            </a:solidFill>
            <a:prstDash val="solid"/>
          </a:ln>
        </p:spPr>
      </p:sp>
      <p:sp>
        <p:nvSpPr>
          <p:cNvPr id="5" name="Shape 3"/>
          <p:cNvSpPr/>
          <p:nvPr/>
        </p:nvSpPr>
        <p:spPr>
          <a:xfrm>
            <a:off x="1165860" y="2505456"/>
            <a:ext cx="457200" cy="457200"/>
          </a:xfrm>
          <a:prstGeom prst="ellipse">
            <a:avLst/>
          </a:prstGeom>
          <a:solidFill>
            <a:srgbClr val="1B1A19"/>
          </a:solidFill>
          <a:ln/>
        </p:spPr>
      </p:sp>
      <p:pic>
        <p:nvPicPr>
          <p:cNvPr id="6" name="Image 0" descr="preencoded.png">    </p:cNvPr>
          <p:cNvPicPr>
            <a:picLocks noChangeAspect="1"/>
          </p:cNvPicPr>
          <p:nvPr/>
        </p:nvPicPr>
        <p:blipFill>
          <a:blip r:embed="rId1"/>
          <a:stretch>
            <a:fillRect/>
          </a:stretch>
        </p:blipFill>
        <p:spPr>
          <a:xfrm>
            <a:off x="1275588" y="2615184"/>
            <a:ext cx="237744" cy="237744"/>
          </a:xfrm>
          <a:prstGeom prst="rect">
            <a:avLst/>
          </a:prstGeom>
        </p:spPr>
      </p:pic>
      <p:sp>
        <p:nvSpPr>
          <p:cNvPr id="7" name="Text 4"/>
          <p:cNvSpPr/>
          <p:nvPr/>
        </p:nvSpPr>
        <p:spPr>
          <a:xfrm>
            <a:off x="457200" y="2999232"/>
            <a:ext cx="187452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Local Folder</a:t>
            </a:r>
            <a:endParaRPr lang="en-US" sz="1200" dirty="0"/>
          </a:p>
        </p:txBody>
      </p:sp>
      <p:sp>
        <p:nvSpPr>
          <p:cNvPr id="8" name="Text 5"/>
          <p:cNvSpPr/>
          <p:nvPr/>
        </p:nvSpPr>
        <p:spPr>
          <a:xfrm>
            <a:off x="457200" y="3310128"/>
            <a:ext cx="1874520" cy="228600"/>
          </a:xfrm>
          <a:prstGeom prst="rect">
            <a:avLst/>
          </a:prstGeom>
          <a:noFill/>
          <a:ln/>
        </p:spPr>
        <p:txBody>
          <a:bodyPr wrap="square" lIns="0" tIns="0" rIns="0" bIns="0" rtlCol="0" anchor="ctr"/>
          <a:lstStyle/>
          <a:p>
            <a:pPr algn="ctr" indent="0" marL="0">
              <a:buNone/>
            </a:pPr>
            <a:r>
              <a:rPr lang="en-US" sz="950" dirty="0">
                <a:solidFill>
                  <a:srgbClr val="C8C6C4"/>
                </a:solidFill>
                <a:latin typeface="Segoe UI" pitchFamily="34" charset="0"/>
                <a:ea typeface="Segoe UI" pitchFamily="34" charset="-122"/>
                <a:cs typeface="Segoe UI" pitchFamily="34" charset="-120"/>
              </a:rPr>
              <a:t>User's PC</a:t>
            </a:r>
            <a:endParaRPr lang="en-US" sz="950" dirty="0"/>
          </a:p>
        </p:txBody>
      </p:sp>
      <p:sp>
        <p:nvSpPr>
          <p:cNvPr id="9" name="Shape 6"/>
          <p:cNvSpPr/>
          <p:nvPr/>
        </p:nvSpPr>
        <p:spPr>
          <a:xfrm>
            <a:off x="2834640" y="2377440"/>
            <a:ext cx="1874520" cy="1188720"/>
          </a:xfrm>
          <a:prstGeom prst="roundRect">
            <a:avLst>
              <a:gd name="adj" fmla="val 4615"/>
            </a:avLst>
          </a:prstGeom>
          <a:solidFill>
            <a:srgbClr val="0078D4"/>
          </a:solidFill>
          <a:ln w="12700">
            <a:solidFill>
              <a:srgbClr val="3B3A39"/>
            </a:solidFill>
            <a:prstDash val="solid"/>
          </a:ln>
        </p:spPr>
      </p:sp>
      <p:sp>
        <p:nvSpPr>
          <p:cNvPr id="10" name="Shape 7"/>
          <p:cNvSpPr/>
          <p:nvPr/>
        </p:nvSpPr>
        <p:spPr>
          <a:xfrm>
            <a:off x="3543300" y="2505456"/>
            <a:ext cx="457200" cy="457200"/>
          </a:xfrm>
          <a:prstGeom prst="ellipse">
            <a:avLst/>
          </a:prstGeom>
          <a:solidFill>
            <a:srgbClr val="1B1A19"/>
          </a:solidFill>
          <a:ln/>
        </p:spPr>
      </p:sp>
      <p:pic>
        <p:nvPicPr>
          <p:cNvPr id="11" name="Image 1" descr="preencoded.png">    </p:cNvPr>
          <p:cNvPicPr>
            <a:picLocks noChangeAspect="1"/>
          </p:cNvPicPr>
          <p:nvPr/>
        </p:nvPicPr>
        <p:blipFill>
          <a:blip r:embed="rId2"/>
          <a:stretch>
            <a:fillRect/>
          </a:stretch>
        </p:blipFill>
        <p:spPr>
          <a:xfrm>
            <a:off x="3653028" y="2615184"/>
            <a:ext cx="237744" cy="237744"/>
          </a:xfrm>
          <a:prstGeom prst="rect">
            <a:avLst/>
          </a:prstGeom>
        </p:spPr>
      </p:pic>
      <p:sp>
        <p:nvSpPr>
          <p:cNvPr id="12" name="Text 8"/>
          <p:cNvSpPr/>
          <p:nvPr/>
        </p:nvSpPr>
        <p:spPr>
          <a:xfrm>
            <a:off x="2834640" y="2999232"/>
            <a:ext cx="187452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Power Automate</a:t>
            </a:r>
            <a:endParaRPr lang="en-US" sz="1200" dirty="0"/>
          </a:p>
        </p:txBody>
      </p:sp>
      <p:sp>
        <p:nvSpPr>
          <p:cNvPr id="13" name="Text 9"/>
          <p:cNvSpPr/>
          <p:nvPr/>
        </p:nvSpPr>
        <p:spPr>
          <a:xfrm>
            <a:off x="2834640" y="3310128"/>
            <a:ext cx="1874520" cy="228600"/>
          </a:xfrm>
          <a:prstGeom prst="rect">
            <a:avLst/>
          </a:prstGeom>
          <a:noFill/>
          <a:ln/>
        </p:spPr>
        <p:txBody>
          <a:bodyPr wrap="square" lIns="0" tIns="0" rIns="0" bIns="0" rtlCol="0" anchor="ctr"/>
          <a:lstStyle/>
          <a:p>
            <a:pPr algn="ctr" indent="0" marL="0">
              <a:buNone/>
            </a:pPr>
            <a:r>
              <a:rPr lang="en-US" sz="950" dirty="0">
                <a:solidFill>
                  <a:srgbClr val="C8C6C4"/>
                </a:solidFill>
                <a:latin typeface="Segoe UI" pitchFamily="34" charset="0"/>
                <a:ea typeface="Segoe UI" pitchFamily="34" charset="-122"/>
                <a:cs typeface="Segoe UI" pitchFamily="34" charset="-120"/>
              </a:rPr>
              <a:t>Cloud flow</a:t>
            </a:r>
            <a:endParaRPr lang="en-US" sz="950" dirty="0"/>
          </a:p>
        </p:txBody>
      </p:sp>
      <p:sp>
        <p:nvSpPr>
          <p:cNvPr id="14" name="Shape 10"/>
          <p:cNvSpPr/>
          <p:nvPr/>
        </p:nvSpPr>
        <p:spPr>
          <a:xfrm>
            <a:off x="5212080" y="2377440"/>
            <a:ext cx="1874520" cy="1188720"/>
          </a:xfrm>
          <a:prstGeom prst="roundRect">
            <a:avLst>
              <a:gd name="adj" fmla="val 4615"/>
            </a:avLst>
          </a:prstGeom>
          <a:solidFill>
            <a:srgbClr val="2A2928"/>
          </a:solidFill>
          <a:ln w="12700">
            <a:solidFill>
              <a:srgbClr val="3B3A39"/>
            </a:solidFill>
            <a:prstDash val="solid"/>
          </a:ln>
        </p:spPr>
      </p:sp>
      <p:sp>
        <p:nvSpPr>
          <p:cNvPr id="15" name="Shape 11"/>
          <p:cNvSpPr/>
          <p:nvPr/>
        </p:nvSpPr>
        <p:spPr>
          <a:xfrm>
            <a:off x="5920740" y="2505456"/>
            <a:ext cx="457200" cy="457200"/>
          </a:xfrm>
          <a:prstGeom prst="ellipse">
            <a:avLst/>
          </a:prstGeom>
          <a:solidFill>
            <a:srgbClr val="1B1A19"/>
          </a:solidFill>
          <a:ln/>
        </p:spPr>
      </p:sp>
      <p:pic>
        <p:nvPicPr>
          <p:cNvPr id="16" name="Image 2" descr="preencoded.png">    </p:cNvPr>
          <p:cNvPicPr>
            <a:picLocks noChangeAspect="1"/>
          </p:cNvPicPr>
          <p:nvPr/>
        </p:nvPicPr>
        <p:blipFill>
          <a:blip r:embed="rId3"/>
          <a:stretch>
            <a:fillRect/>
          </a:stretch>
        </p:blipFill>
        <p:spPr>
          <a:xfrm>
            <a:off x="6030468" y="2615184"/>
            <a:ext cx="237744" cy="237744"/>
          </a:xfrm>
          <a:prstGeom prst="rect">
            <a:avLst/>
          </a:prstGeom>
        </p:spPr>
      </p:pic>
      <p:sp>
        <p:nvSpPr>
          <p:cNvPr id="17" name="Text 12"/>
          <p:cNvSpPr/>
          <p:nvPr/>
        </p:nvSpPr>
        <p:spPr>
          <a:xfrm>
            <a:off x="5212080" y="2999232"/>
            <a:ext cx="187452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Blob Storage</a:t>
            </a:r>
            <a:endParaRPr lang="en-US" sz="1200" dirty="0"/>
          </a:p>
        </p:txBody>
      </p:sp>
      <p:sp>
        <p:nvSpPr>
          <p:cNvPr id="18" name="Text 13"/>
          <p:cNvSpPr/>
          <p:nvPr/>
        </p:nvSpPr>
        <p:spPr>
          <a:xfrm>
            <a:off x="5212080" y="3310128"/>
            <a:ext cx="1874520" cy="228600"/>
          </a:xfrm>
          <a:prstGeom prst="rect">
            <a:avLst/>
          </a:prstGeom>
          <a:noFill/>
          <a:ln/>
        </p:spPr>
        <p:txBody>
          <a:bodyPr wrap="square" lIns="0" tIns="0" rIns="0" bIns="0" rtlCol="0" anchor="ctr"/>
          <a:lstStyle/>
          <a:p>
            <a:pPr algn="ctr" indent="0" marL="0">
              <a:buNone/>
            </a:pPr>
            <a:r>
              <a:rPr lang="en-US" sz="950" dirty="0">
                <a:solidFill>
                  <a:srgbClr val="C8C6C4"/>
                </a:solidFill>
                <a:latin typeface="Segoe UI" pitchFamily="34" charset="0"/>
                <a:ea typeface="Segoe UI" pitchFamily="34" charset="-122"/>
                <a:cs typeface="Segoe UI" pitchFamily="34" charset="-120"/>
              </a:rPr>
              <a:t>incoming/</a:t>
            </a:r>
            <a:endParaRPr lang="en-US" sz="950" dirty="0"/>
          </a:p>
        </p:txBody>
      </p:sp>
      <p:sp>
        <p:nvSpPr>
          <p:cNvPr id="19" name="Shape 14"/>
          <p:cNvSpPr/>
          <p:nvPr/>
        </p:nvSpPr>
        <p:spPr>
          <a:xfrm>
            <a:off x="7589520" y="2377440"/>
            <a:ext cx="1874520" cy="1188720"/>
          </a:xfrm>
          <a:prstGeom prst="roundRect">
            <a:avLst>
              <a:gd name="adj" fmla="val 4615"/>
            </a:avLst>
          </a:prstGeom>
          <a:solidFill>
            <a:srgbClr val="0078D4"/>
          </a:solidFill>
          <a:ln w="12700">
            <a:solidFill>
              <a:srgbClr val="3B3A39"/>
            </a:solidFill>
            <a:prstDash val="solid"/>
          </a:ln>
        </p:spPr>
      </p:sp>
      <p:sp>
        <p:nvSpPr>
          <p:cNvPr id="20" name="Shape 15"/>
          <p:cNvSpPr/>
          <p:nvPr/>
        </p:nvSpPr>
        <p:spPr>
          <a:xfrm>
            <a:off x="8298180" y="2505456"/>
            <a:ext cx="457200" cy="457200"/>
          </a:xfrm>
          <a:prstGeom prst="ellipse">
            <a:avLst/>
          </a:prstGeom>
          <a:solidFill>
            <a:srgbClr val="1B1A19"/>
          </a:solidFill>
          <a:ln/>
        </p:spPr>
      </p:sp>
      <p:pic>
        <p:nvPicPr>
          <p:cNvPr id="21" name="Image 3" descr="preencoded.png">    </p:cNvPr>
          <p:cNvPicPr>
            <a:picLocks noChangeAspect="1"/>
          </p:cNvPicPr>
          <p:nvPr/>
        </p:nvPicPr>
        <p:blipFill>
          <a:blip r:embed="rId4"/>
          <a:stretch>
            <a:fillRect/>
          </a:stretch>
        </p:blipFill>
        <p:spPr>
          <a:xfrm>
            <a:off x="8407908" y="2615184"/>
            <a:ext cx="237744" cy="237744"/>
          </a:xfrm>
          <a:prstGeom prst="rect">
            <a:avLst/>
          </a:prstGeom>
        </p:spPr>
      </p:pic>
      <p:sp>
        <p:nvSpPr>
          <p:cNvPr id="22" name="Text 16"/>
          <p:cNvSpPr/>
          <p:nvPr/>
        </p:nvSpPr>
        <p:spPr>
          <a:xfrm>
            <a:off x="7589520" y="2999232"/>
            <a:ext cx="187452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Logic App</a:t>
            </a:r>
            <a:endParaRPr lang="en-US" sz="1200" dirty="0"/>
          </a:p>
        </p:txBody>
      </p:sp>
      <p:sp>
        <p:nvSpPr>
          <p:cNvPr id="23" name="Text 17"/>
          <p:cNvSpPr/>
          <p:nvPr/>
        </p:nvSpPr>
        <p:spPr>
          <a:xfrm>
            <a:off x="7589520" y="3310128"/>
            <a:ext cx="1874520" cy="228600"/>
          </a:xfrm>
          <a:prstGeom prst="rect">
            <a:avLst/>
          </a:prstGeom>
          <a:noFill/>
          <a:ln/>
        </p:spPr>
        <p:txBody>
          <a:bodyPr wrap="square" lIns="0" tIns="0" rIns="0" bIns="0" rtlCol="0" anchor="ctr"/>
          <a:lstStyle/>
          <a:p>
            <a:pPr algn="ctr" indent="0" marL="0">
              <a:buNone/>
            </a:pPr>
            <a:r>
              <a:rPr lang="en-US" sz="950" dirty="0">
                <a:solidFill>
                  <a:srgbClr val="C8C6C4"/>
                </a:solidFill>
                <a:latin typeface="Segoe UI" pitchFamily="34" charset="0"/>
                <a:ea typeface="Segoe UI" pitchFamily="34" charset="-122"/>
                <a:cs typeface="Segoe UI" pitchFamily="34" charset="-120"/>
              </a:rPr>
              <a:t>Consumption</a:t>
            </a:r>
            <a:endParaRPr lang="en-US" sz="950" dirty="0"/>
          </a:p>
        </p:txBody>
      </p:sp>
      <p:sp>
        <p:nvSpPr>
          <p:cNvPr id="24" name="Shape 18"/>
          <p:cNvSpPr/>
          <p:nvPr/>
        </p:nvSpPr>
        <p:spPr>
          <a:xfrm>
            <a:off x="9966960" y="2377440"/>
            <a:ext cx="1874520" cy="1188720"/>
          </a:xfrm>
          <a:prstGeom prst="roundRect">
            <a:avLst>
              <a:gd name="adj" fmla="val 4615"/>
            </a:avLst>
          </a:prstGeom>
          <a:solidFill>
            <a:srgbClr val="0078D4"/>
          </a:solidFill>
          <a:ln w="12700">
            <a:solidFill>
              <a:srgbClr val="3B3A39"/>
            </a:solidFill>
            <a:prstDash val="solid"/>
          </a:ln>
        </p:spPr>
      </p:sp>
      <p:sp>
        <p:nvSpPr>
          <p:cNvPr id="25" name="Shape 19"/>
          <p:cNvSpPr/>
          <p:nvPr/>
        </p:nvSpPr>
        <p:spPr>
          <a:xfrm>
            <a:off x="10675620" y="2505456"/>
            <a:ext cx="457200" cy="457200"/>
          </a:xfrm>
          <a:prstGeom prst="ellipse">
            <a:avLst/>
          </a:prstGeom>
          <a:solidFill>
            <a:srgbClr val="1B1A19"/>
          </a:solidFill>
          <a:ln/>
        </p:spPr>
      </p:sp>
      <p:pic>
        <p:nvPicPr>
          <p:cNvPr id="26" name="Image 4" descr="preencoded.png">    </p:cNvPr>
          <p:cNvPicPr>
            <a:picLocks noChangeAspect="1"/>
          </p:cNvPicPr>
          <p:nvPr/>
        </p:nvPicPr>
        <p:blipFill>
          <a:blip r:embed="rId5"/>
          <a:stretch>
            <a:fillRect/>
          </a:stretch>
        </p:blipFill>
        <p:spPr>
          <a:xfrm>
            <a:off x="10785348" y="2615184"/>
            <a:ext cx="237744" cy="237744"/>
          </a:xfrm>
          <a:prstGeom prst="rect">
            <a:avLst/>
          </a:prstGeom>
        </p:spPr>
      </p:pic>
      <p:sp>
        <p:nvSpPr>
          <p:cNvPr id="27" name="Text 20"/>
          <p:cNvSpPr/>
          <p:nvPr/>
        </p:nvSpPr>
        <p:spPr>
          <a:xfrm>
            <a:off x="9966960" y="2999232"/>
            <a:ext cx="187452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Content</a:t>
            </a:r>
            <a:endParaRPr lang="en-US" sz="1200" dirty="0"/>
          </a:p>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Understanding</a:t>
            </a:r>
            <a:endParaRPr lang="en-US" sz="1200" dirty="0"/>
          </a:p>
        </p:txBody>
      </p:sp>
      <p:sp>
        <p:nvSpPr>
          <p:cNvPr id="28" name="Text 21"/>
          <p:cNvSpPr/>
          <p:nvPr/>
        </p:nvSpPr>
        <p:spPr>
          <a:xfrm>
            <a:off x="9966960" y="3310128"/>
            <a:ext cx="1874520" cy="228600"/>
          </a:xfrm>
          <a:prstGeom prst="rect">
            <a:avLst/>
          </a:prstGeom>
          <a:noFill/>
          <a:ln/>
        </p:spPr>
        <p:txBody>
          <a:bodyPr wrap="square" lIns="0" tIns="0" rIns="0" bIns="0" rtlCol="0" anchor="ctr"/>
          <a:lstStyle/>
          <a:p>
            <a:pPr algn="ctr" indent="0" marL="0">
              <a:buNone/>
            </a:pPr>
            <a:r>
              <a:rPr lang="en-US" sz="950" dirty="0">
                <a:solidFill>
                  <a:srgbClr val="C8C6C4"/>
                </a:solidFill>
                <a:latin typeface="Segoe UI" pitchFamily="34" charset="0"/>
                <a:ea typeface="Segoe UI" pitchFamily="34" charset="-122"/>
                <a:cs typeface="Segoe UI" pitchFamily="34" charset="-120"/>
              </a:rPr>
              <a:t>Custom analyzer</a:t>
            </a:r>
            <a:endParaRPr lang="en-US" sz="950" dirty="0"/>
          </a:p>
        </p:txBody>
      </p:sp>
      <p:sp>
        <p:nvSpPr>
          <p:cNvPr id="29" name="Shape 22"/>
          <p:cNvSpPr/>
          <p:nvPr/>
        </p:nvSpPr>
        <p:spPr>
          <a:xfrm>
            <a:off x="2313432" y="2971800"/>
            <a:ext cx="539496" cy="0"/>
          </a:xfrm>
          <a:prstGeom prst="line">
            <a:avLst/>
          </a:prstGeom>
          <a:noFill/>
          <a:ln w="25400">
            <a:solidFill>
              <a:srgbClr val="50E6FF"/>
            </a:solidFill>
            <a:prstDash val="solid"/>
          </a:ln>
        </p:spPr>
      </p:sp>
      <p:sp>
        <p:nvSpPr>
          <p:cNvPr id="30" name="Shape 23"/>
          <p:cNvSpPr/>
          <p:nvPr/>
        </p:nvSpPr>
        <p:spPr>
          <a:xfrm>
            <a:off x="4690872" y="2971800"/>
            <a:ext cx="539496" cy="0"/>
          </a:xfrm>
          <a:prstGeom prst="line">
            <a:avLst/>
          </a:prstGeom>
          <a:noFill/>
          <a:ln w="25400">
            <a:solidFill>
              <a:srgbClr val="50E6FF"/>
            </a:solidFill>
            <a:prstDash val="solid"/>
          </a:ln>
        </p:spPr>
      </p:sp>
      <p:sp>
        <p:nvSpPr>
          <p:cNvPr id="31" name="Shape 24"/>
          <p:cNvSpPr/>
          <p:nvPr/>
        </p:nvSpPr>
        <p:spPr>
          <a:xfrm>
            <a:off x="7068312" y="2971800"/>
            <a:ext cx="539496" cy="0"/>
          </a:xfrm>
          <a:prstGeom prst="line">
            <a:avLst/>
          </a:prstGeom>
          <a:noFill/>
          <a:ln w="25400">
            <a:solidFill>
              <a:srgbClr val="50E6FF"/>
            </a:solidFill>
            <a:prstDash val="solid"/>
          </a:ln>
        </p:spPr>
      </p:sp>
      <p:sp>
        <p:nvSpPr>
          <p:cNvPr id="32" name="Shape 25"/>
          <p:cNvSpPr/>
          <p:nvPr/>
        </p:nvSpPr>
        <p:spPr>
          <a:xfrm>
            <a:off x="9445752" y="2971800"/>
            <a:ext cx="539496" cy="0"/>
          </a:xfrm>
          <a:prstGeom prst="line">
            <a:avLst/>
          </a:prstGeom>
          <a:noFill/>
          <a:ln w="25400">
            <a:solidFill>
              <a:srgbClr val="50E6FF"/>
            </a:solidFill>
            <a:prstDash val="solid"/>
          </a:ln>
        </p:spPr>
      </p:sp>
      <p:sp>
        <p:nvSpPr>
          <p:cNvPr id="33" name="Text 26"/>
          <p:cNvSpPr/>
          <p:nvPr/>
        </p:nvSpPr>
        <p:spPr>
          <a:xfrm>
            <a:off x="8746236" y="3621024"/>
            <a:ext cx="2377440" cy="502920"/>
          </a:xfrm>
          <a:prstGeom prst="rect">
            <a:avLst/>
          </a:prstGeom>
          <a:noFill/>
          <a:ln/>
        </p:spPr>
        <p:txBody>
          <a:bodyPr wrap="square" lIns="0" tIns="0" rIns="0" bIns="0" rtlCol="0" anchor="ctr"/>
          <a:lstStyle/>
          <a:p>
            <a:pPr algn="l" indent="0" marL="0">
              <a:buNone/>
            </a:pPr>
            <a:r>
              <a:rPr lang="en-US" sz="950" i="1" dirty="0">
                <a:solidFill>
                  <a:srgbClr val="8A8886"/>
                </a:solidFill>
                <a:latin typeface="Segoe UI" pitchFamily="34" charset="0"/>
                <a:ea typeface="Segoe UI" pitchFamily="34" charset="-122"/>
                <a:cs typeface="Segoe UI" pitchFamily="34" charset="-120"/>
              </a:rPr>
              <a:t>polls Operation-Location</a:t>
            </a:r>
            <a:endParaRPr lang="en-US" sz="950" dirty="0"/>
          </a:p>
          <a:p>
            <a:pPr algn="l" indent="0" marL="0">
              <a:buNone/>
            </a:pPr>
            <a:r>
              <a:rPr lang="en-US" sz="950" i="1" dirty="0">
                <a:solidFill>
                  <a:srgbClr val="8A8886"/>
                </a:solidFill>
                <a:latin typeface="Segoe UI" pitchFamily="34" charset="0"/>
                <a:ea typeface="Segoe UI" pitchFamily="34" charset="-122"/>
                <a:cs typeface="Segoe UI" pitchFamily="34" charset="-120"/>
              </a:rPr>
              <a:t>until Succeeded / Failed</a:t>
            </a:r>
            <a:endParaRPr lang="en-US" sz="950" dirty="0"/>
          </a:p>
        </p:txBody>
      </p:sp>
      <p:sp>
        <p:nvSpPr>
          <p:cNvPr id="34" name="Shape 27"/>
          <p:cNvSpPr/>
          <p:nvPr/>
        </p:nvSpPr>
        <p:spPr>
          <a:xfrm>
            <a:off x="8526780" y="3566160"/>
            <a:ext cx="0" cy="685800"/>
          </a:xfrm>
          <a:prstGeom prst="line">
            <a:avLst/>
          </a:prstGeom>
          <a:noFill/>
          <a:ln w="25400">
            <a:solidFill>
              <a:srgbClr val="50E6FF"/>
            </a:solidFill>
            <a:prstDash val="solid"/>
          </a:ln>
        </p:spPr>
      </p:sp>
      <p:sp>
        <p:nvSpPr>
          <p:cNvPr id="35" name="Shape 28"/>
          <p:cNvSpPr/>
          <p:nvPr/>
        </p:nvSpPr>
        <p:spPr>
          <a:xfrm>
            <a:off x="6149340" y="4251960"/>
            <a:ext cx="2103120" cy="914400"/>
          </a:xfrm>
          <a:prstGeom prst="roundRect">
            <a:avLst>
              <a:gd name="adj" fmla="val 6000"/>
            </a:avLst>
          </a:prstGeom>
          <a:solidFill>
            <a:srgbClr val="107C10"/>
          </a:solidFill>
          <a:ln/>
        </p:spPr>
      </p:sp>
      <p:sp>
        <p:nvSpPr>
          <p:cNvPr id="36" name="Text 29"/>
          <p:cNvSpPr/>
          <p:nvPr/>
        </p:nvSpPr>
        <p:spPr>
          <a:xfrm>
            <a:off x="6149340" y="4251960"/>
            <a:ext cx="2103120" cy="914400"/>
          </a:xfrm>
          <a:prstGeom prst="rect">
            <a:avLst/>
          </a:prstGeom>
          <a:noFill/>
          <a:ln/>
        </p:spPr>
        <p:txBody>
          <a:bodyPr wrap="square" lIns="0" tIns="0" rIns="0" bIns="0" rtlCol="0" anchor="ctr"/>
          <a:lstStyle/>
          <a:p>
            <a:pPr algn="ctr" indent="0" marL="0">
              <a:buNone/>
            </a:pPr>
            <a:r>
              <a:rPr lang="en-US" sz="1050" dirty="0">
                <a:solidFill>
                  <a:srgbClr val="FFFFFF"/>
                </a:solidFill>
                <a:latin typeface="Segoe UI" pitchFamily="34" charset="0"/>
                <a:ea typeface="Segoe UI" pitchFamily="34" charset="-122"/>
                <a:cs typeface="Segoe UI" pitchFamily="34" charset="-120"/>
              </a:rPr>
              <a:t>Blob Storage</a:t>
            </a:r>
            <a:endParaRPr lang="en-US" sz="1050" dirty="0"/>
          </a:p>
          <a:p>
            <a:pPr algn="ctr" indent="0" marL="0">
              <a:buNone/>
            </a:pPr>
            <a:r>
              <a:rPr lang="en-US" sz="1050" dirty="0">
                <a:solidFill>
                  <a:srgbClr val="FFFFFF"/>
                </a:solidFill>
                <a:latin typeface="Segoe UI" pitchFamily="34" charset="0"/>
                <a:ea typeface="Segoe UI" pitchFamily="34" charset="-122"/>
                <a:cs typeface="Segoe UI" pitchFamily="34" charset="-120"/>
              </a:rPr>
              <a:t>processed/  (success JSON)</a:t>
            </a:r>
            <a:endParaRPr lang="en-US" sz="1050" dirty="0"/>
          </a:p>
        </p:txBody>
      </p:sp>
      <p:sp>
        <p:nvSpPr>
          <p:cNvPr id="37" name="Shape 30"/>
          <p:cNvSpPr/>
          <p:nvPr/>
        </p:nvSpPr>
        <p:spPr>
          <a:xfrm>
            <a:off x="8801100" y="4251960"/>
            <a:ext cx="2103120" cy="914400"/>
          </a:xfrm>
          <a:prstGeom prst="roundRect">
            <a:avLst>
              <a:gd name="adj" fmla="val 6000"/>
            </a:avLst>
          </a:prstGeom>
          <a:solidFill>
            <a:srgbClr val="D83B01"/>
          </a:solidFill>
          <a:ln/>
        </p:spPr>
      </p:sp>
      <p:sp>
        <p:nvSpPr>
          <p:cNvPr id="38" name="Text 31"/>
          <p:cNvSpPr/>
          <p:nvPr/>
        </p:nvSpPr>
        <p:spPr>
          <a:xfrm>
            <a:off x="8801100" y="4251960"/>
            <a:ext cx="2103120" cy="914400"/>
          </a:xfrm>
          <a:prstGeom prst="rect">
            <a:avLst/>
          </a:prstGeom>
          <a:noFill/>
          <a:ln/>
        </p:spPr>
        <p:txBody>
          <a:bodyPr wrap="square" lIns="0" tIns="0" rIns="0" bIns="0" rtlCol="0" anchor="ctr"/>
          <a:lstStyle/>
          <a:p>
            <a:pPr algn="ctr" indent="0" marL="0">
              <a:buNone/>
            </a:pPr>
            <a:r>
              <a:rPr lang="en-US" sz="1050" dirty="0">
                <a:solidFill>
                  <a:srgbClr val="FFFFFF"/>
                </a:solidFill>
                <a:latin typeface="Segoe UI" pitchFamily="34" charset="0"/>
                <a:ea typeface="Segoe UI" pitchFamily="34" charset="-122"/>
                <a:cs typeface="Segoe UI" pitchFamily="34" charset="-120"/>
              </a:rPr>
              <a:t>Blob Storage</a:t>
            </a:r>
            <a:endParaRPr lang="en-US" sz="1050" dirty="0"/>
          </a:p>
          <a:p>
            <a:pPr algn="ctr" indent="0" marL="0">
              <a:buNone/>
            </a:pPr>
            <a:r>
              <a:rPr lang="en-US" sz="1050" dirty="0">
                <a:solidFill>
                  <a:srgbClr val="FFFFFF"/>
                </a:solidFill>
                <a:latin typeface="Segoe UI" pitchFamily="34" charset="0"/>
                <a:ea typeface="Segoe UI" pitchFamily="34" charset="-122"/>
                <a:cs typeface="Segoe UI" pitchFamily="34" charset="-120"/>
              </a:rPr>
              <a:t>errors/  (failure detail)</a:t>
            </a:r>
            <a:endParaRPr lang="en-US" sz="1050" dirty="0"/>
          </a:p>
        </p:txBody>
      </p:sp>
      <p:sp>
        <p:nvSpPr>
          <p:cNvPr id="39" name="Shape 32"/>
          <p:cNvSpPr/>
          <p:nvPr/>
        </p:nvSpPr>
        <p:spPr>
          <a:xfrm>
            <a:off x="8526780" y="4251960"/>
            <a:ext cx="2377440" cy="0"/>
          </a:xfrm>
          <a:prstGeom prst="line">
            <a:avLst/>
          </a:prstGeom>
          <a:noFill/>
          <a:ln w="25400">
            <a:solidFill>
              <a:srgbClr val="50E6FF"/>
            </a:solidFill>
            <a:prstDash val="solid"/>
          </a:ln>
        </p:spPr>
      </p:sp>
      <p:sp>
        <p:nvSpPr>
          <p:cNvPr id="40" name="Text 33"/>
          <p:cNvSpPr/>
          <p:nvPr/>
        </p:nvSpPr>
        <p:spPr>
          <a:xfrm>
            <a:off x="548640" y="5806440"/>
            <a:ext cx="10789920" cy="411480"/>
          </a:xfrm>
          <a:prstGeom prst="rect">
            <a:avLst/>
          </a:prstGeom>
          <a:noFill/>
          <a:ln/>
        </p:spPr>
        <p:txBody>
          <a:bodyPr wrap="square" lIns="0" tIns="0" rIns="0" bIns="0" rtlCol="0" anchor="ctr"/>
          <a:lstStyle/>
          <a:p>
            <a:pPr indent="0" marL="0">
              <a:buNone/>
            </a:pPr>
            <a:r>
              <a:rPr lang="en-US" sz="1100" i="1" dirty="0">
                <a:solidFill>
                  <a:srgbClr val="8A8886"/>
                </a:solidFill>
                <a:latin typeface="Segoe UI" pitchFamily="34" charset="0"/>
                <a:ea typeface="Segoe UI" pitchFamily="34" charset="-122"/>
                <a:cs typeface="Segoe UI" pitchFamily="34" charset="-120"/>
              </a:rPr>
              <a:t>Both containers are private (no public access); the Logic App authenticates to Content Understanding with its own system-assigned managed identity — no keys or secrets in the workflow.</a:t>
            </a:r>
            <a:endParaRPr lang="en-US" sz="1100" dirty="0"/>
          </a:p>
        </p:txBody>
      </p:sp>
      <p:sp>
        <p:nvSpPr>
          <p:cNvPr id="41" name="Text 34"/>
          <p:cNvSpPr/>
          <p:nvPr/>
        </p:nvSpPr>
        <p:spPr>
          <a:xfrm>
            <a:off x="457200" y="6419088"/>
            <a:ext cx="7315200" cy="274320"/>
          </a:xfrm>
          <a:prstGeom prst="rect">
            <a:avLst/>
          </a:prstGeom>
          <a:noFill/>
          <a:ln/>
        </p:spPr>
        <p:txBody>
          <a:bodyPr wrap="square" lIns="0" tIns="0" rIns="0" bIns="0" rtlCol="0" anchor="ctr"/>
          <a:lstStyle/>
          <a:p>
            <a:pPr indent="0" marL="0">
              <a:buNone/>
            </a:pPr>
            <a:r>
              <a:rPr lang="en-US" sz="900" dirty="0">
                <a:solidFill>
                  <a:srgbClr val="8A8886"/>
                </a:solidFill>
                <a:latin typeface="Segoe UI" pitchFamily="34" charset="0"/>
                <a:ea typeface="Segoe UI" pitchFamily="34" charset="-122"/>
                <a:cs typeface="Segoe UI" pitchFamily="34" charset="-120"/>
              </a:rPr>
              <a:t>Fax Ingest &amp; Extraction with Azure Content Understanding</a:t>
            </a:r>
            <a:endParaRPr lang="en-US" sz="900" dirty="0"/>
          </a:p>
        </p:txBody>
      </p:sp>
      <p:sp>
        <p:nvSpPr>
          <p:cNvPr id="42" name="Text 35"/>
          <p:cNvSpPr/>
          <p:nvPr/>
        </p:nvSpPr>
        <p:spPr>
          <a:xfrm>
            <a:off x="11247120" y="6419088"/>
            <a:ext cx="457200" cy="274320"/>
          </a:xfrm>
          <a:prstGeom prst="rect">
            <a:avLst/>
          </a:prstGeom>
          <a:noFill/>
          <a:ln/>
        </p:spPr>
        <p:txBody>
          <a:bodyPr wrap="square" lIns="0" tIns="0" rIns="0" bIns="0" rtlCol="0" anchor="ctr"/>
          <a:lstStyle/>
          <a:p>
            <a:pPr algn="r" indent="0" marL="0">
              <a:buNone/>
            </a:pPr>
            <a:r>
              <a:rPr lang="en-US" sz="900" dirty="0">
                <a:solidFill>
                  <a:srgbClr val="8A8886"/>
                </a:solidFill>
                <a:latin typeface="Segoe UI" pitchFamily="34" charset="0"/>
                <a:ea typeface="Segoe UI" pitchFamily="34" charset="-122"/>
                <a:cs typeface="Segoe U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1A19"/>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50E6FF"/>
                </a:solidFill>
                <a:latin typeface="Segoe UI" pitchFamily="34" charset="0"/>
                <a:ea typeface="Segoe UI" pitchFamily="34" charset="-122"/>
                <a:cs typeface="Segoe UI" pitchFamily="34" charset="-120"/>
              </a:rPr>
              <a:t>UNDER THE HOOD</a:t>
            </a:r>
            <a:endParaRPr lang="en-US" sz="1300" dirty="0"/>
          </a:p>
        </p:txBody>
      </p:sp>
      <p:sp>
        <p:nvSpPr>
          <p:cNvPr id="3" name="Text 1"/>
          <p:cNvSpPr/>
          <p:nvPr/>
        </p:nvSpPr>
        <p:spPr>
          <a:xfrm>
            <a:off x="548640" y="658368"/>
            <a:ext cx="10515600" cy="777240"/>
          </a:xfrm>
          <a:prstGeom prst="rect">
            <a:avLst/>
          </a:prstGeom>
          <a:noFill/>
          <a:ln/>
        </p:spPr>
        <p:txBody>
          <a:bodyPr wrap="square" lIns="0" tIns="0" rIns="0" bIns="0" rtlCol="0" anchor="ctr"/>
          <a:lstStyle/>
          <a:p>
            <a:pPr indent="0" marL="0">
              <a:buNone/>
            </a:pPr>
            <a:r>
              <a:rPr lang="en-US" sz="3200" b="1" dirty="0">
                <a:solidFill>
                  <a:srgbClr val="F3F2F1"/>
                </a:solidFill>
                <a:latin typeface="Segoe UI Semibold" pitchFamily="34" charset="0"/>
                <a:ea typeface="Segoe UI Semibold" pitchFamily="34" charset="-122"/>
                <a:cs typeface="Segoe UI Semibold" pitchFamily="34" charset="-120"/>
              </a:rPr>
              <a:t>Services used in this demo</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3017520"/>
                <a:gridCol w="5120640"/>
                <a:gridCol w="2926080"/>
              </a:tblGrid>
              <a:tr h="749808">
                <a:tc>
                  <a:txBody>
                    <a:bodyPr/>
                    <a:lstStyle/>
                    <a:p>
                      <a:pPr indent="0" marL="0">
                        <a:buNone/>
                      </a:pPr>
                      <a:r>
                        <a:rPr lang="en-US" sz="1300" b="1" dirty="0">
                          <a:solidFill>
                            <a:srgbClr val="FFFFFF"/>
                          </a:solidFill>
                          <a:latin typeface="Segoe UI Semibold" pitchFamily="34" charset="0"/>
                          <a:ea typeface="Segoe UI Semibold" pitchFamily="34" charset="-122"/>
                          <a:cs typeface="Segoe UI Semibold" pitchFamily="34" charset="-120"/>
                        </a:rPr>
                        <a:t>Service</a:t>
                      </a:r>
                      <a:endParaRPr lang="en-US" sz="1300" dirty="0">
                        <a:latin typeface="Segoe UI Semibold" charset="0"/>
                        <a:ea typeface="Segoe UI Semibold" charset="0"/>
                        <a:cs typeface="Segoe UI Semibold" charset="0"/>
                      </a:endParaRPr>
                    </a:p>
                  </a:txBody>
                  <a:tcPr marL="91440" marR="91440" marT="45720" marB="45720" anchor="ctr">
                    <a:lnL w="6350" cap="flat" cmpd="sng" algn="ctr">
                      <a:solidFill>
                        <a:srgbClr val="3B3A39"/>
                      </a:solidFill>
                      <a:prstDash val="solid"/>
                      <a:round/>
                      <a:headEnd type="none" w="med" len="med"/>
                      <a:tailEnd type="none" w="med" len="med"/>
                    </a:lnL>
                    <a:lnR w="6350" cap="flat" cmpd="sng" algn="ctr">
                      <a:solidFill>
                        <a:srgbClr val="3B3A39"/>
                      </a:solidFill>
                      <a:prstDash val="solid"/>
                      <a:round/>
                      <a:headEnd type="none" w="med" len="med"/>
                      <a:tailEnd type="none" w="med" len="med"/>
                    </a:lnR>
                    <a:lnT w="6350" cap="flat" cmpd="sng" algn="ctr">
                      <a:solidFill>
                        <a:srgbClr val="3B3A39"/>
                      </a:solidFill>
                      <a:prstDash val="solid"/>
                      <a:round/>
                      <a:headEnd type="none" w="med" len="med"/>
                      <a:tailEnd type="none" w="med" len="med"/>
                    </a:lnT>
                    <a:lnB w="6350" cap="flat" cmpd="sng" algn="ctr">
                      <a:solidFill>
                        <a:srgbClr val="3B3A39"/>
                      </a:solidFill>
                      <a:prstDash val="solid"/>
                      <a:round/>
                      <a:headEnd type="none" w="med" len="med"/>
                      <a:tailEnd type="none" w="med" len="med"/>
                    </a:lnB>
                    <a:solidFill>
                      <a:srgbClr val="0078D4"/>
                    </a:solidFill>
                  </a:tcPr>
                </a:tc>
                <a:tc>
                  <a:txBody>
                    <a:bodyPr/>
                    <a:lstStyle/>
                    <a:p>
                      <a:pPr indent="0" marL="0">
                        <a:buNone/>
                      </a:pPr>
                      <a:r>
                        <a:rPr lang="en-US" sz="1300" b="1" dirty="0">
                          <a:solidFill>
                            <a:srgbClr val="FFFFFF"/>
                          </a:solidFill>
                          <a:latin typeface="Segoe UI Semibold" pitchFamily="34" charset="0"/>
                          <a:ea typeface="Segoe UI Semibold" pitchFamily="34" charset="-122"/>
                          <a:cs typeface="Segoe UI Semibold" pitchFamily="34" charset="-120"/>
                        </a:rPr>
                        <a:t>Role in this demo</a:t>
                      </a:r>
                      <a:endParaRPr lang="en-US" sz="1300" dirty="0">
                        <a:latin typeface="Segoe UI Semibold" charset="0"/>
                        <a:ea typeface="Segoe UI Semibold" charset="0"/>
                        <a:cs typeface="Segoe UI Semibold" charset="0"/>
                      </a:endParaRPr>
                    </a:p>
                  </a:txBody>
                  <a:tcPr marL="91440" marR="91440" marT="45720" marB="45720" anchor="ctr">
                    <a:lnL w="6350" cap="flat" cmpd="sng" algn="ctr">
                      <a:solidFill>
                        <a:srgbClr val="3B3A39"/>
                      </a:solidFill>
                      <a:prstDash val="solid"/>
                      <a:round/>
                      <a:headEnd type="none" w="med" len="med"/>
                      <a:tailEnd type="none" w="med" len="med"/>
                    </a:lnL>
                    <a:lnR w="6350" cap="flat" cmpd="sng" algn="ctr">
                      <a:solidFill>
                        <a:srgbClr val="3B3A39"/>
                      </a:solidFill>
                      <a:prstDash val="solid"/>
                      <a:round/>
                      <a:headEnd type="none" w="med" len="med"/>
                      <a:tailEnd type="none" w="med" len="med"/>
                    </a:lnR>
                    <a:lnT w="6350" cap="flat" cmpd="sng" algn="ctr">
                      <a:solidFill>
                        <a:srgbClr val="3B3A39"/>
                      </a:solidFill>
                      <a:prstDash val="solid"/>
                      <a:round/>
                      <a:headEnd type="none" w="med" len="med"/>
                      <a:tailEnd type="none" w="med" len="med"/>
                    </a:lnT>
                    <a:lnB w="6350" cap="flat" cmpd="sng" algn="ctr">
                      <a:solidFill>
                        <a:srgbClr val="3B3A39"/>
                      </a:solidFill>
                      <a:prstDash val="solid"/>
                      <a:round/>
                      <a:headEnd type="none" w="med" len="med"/>
                      <a:tailEnd type="none" w="med" len="med"/>
                    </a:lnB>
                    <a:solidFill>
                      <a:srgbClr val="0078D4"/>
                    </a:solidFill>
                  </a:tcPr>
                </a:tc>
                <a:tc>
                  <a:txBody>
                    <a:bodyPr/>
                    <a:lstStyle/>
                    <a:p>
                      <a:pPr indent="0" marL="0">
                        <a:buNone/>
                      </a:pPr>
                      <a:r>
                        <a:rPr lang="en-US" sz="1300" b="1" dirty="0">
                          <a:solidFill>
                            <a:srgbClr val="FFFFFF"/>
                          </a:solidFill>
                          <a:latin typeface="Segoe UI Semibold" pitchFamily="34" charset="0"/>
                          <a:ea typeface="Segoe UI Semibold" pitchFamily="34" charset="-122"/>
                          <a:cs typeface="Segoe UI Semibold" pitchFamily="34" charset="-120"/>
                        </a:rPr>
                        <a:t>Why it's here</a:t>
                      </a:r>
                      <a:endParaRPr lang="en-US" sz="1300" dirty="0">
                        <a:latin typeface="Segoe UI Semibold" charset="0"/>
                        <a:ea typeface="Segoe UI Semibold" charset="0"/>
                        <a:cs typeface="Segoe UI Semibold" charset="0"/>
                      </a:endParaRPr>
                    </a:p>
                  </a:txBody>
                  <a:tcPr marL="91440" marR="91440" marT="45720" marB="45720" anchor="ctr">
                    <a:lnL w="6350" cap="flat" cmpd="sng" algn="ctr">
                      <a:solidFill>
                        <a:srgbClr val="3B3A39"/>
                      </a:solidFill>
                      <a:prstDash val="solid"/>
                      <a:round/>
                      <a:headEnd type="none" w="med" len="med"/>
                      <a:tailEnd type="none" w="med" len="med"/>
                    </a:lnL>
                    <a:lnR w="6350" cap="flat" cmpd="sng" algn="ctr">
                      <a:solidFill>
                        <a:srgbClr val="3B3A39"/>
                      </a:solidFill>
                      <a:prstDash val="solid"/>
                      <a:round/>
                      <a:headEnd type="none" w="med" len="med"/>
                      <a:tailEnd type="none" w="med" len="med"/>
                    </a:lnR>
                    <a:lnT w="6350" cap="flat" cmpd="sng" algn="ctr">
                      <a:solidFill>
                        <a:srgbClr val="3B3A39"/>
                      </a:solidFill>
                      <a:prstDash val="solid"/>
                      <a:round/>
                      <a:headEnd type="none" w="med" len="med"/>
                      <a:tailEnd type="none" w="med" len="med"/>
                    </a:lnT>
                    <a:lnB w="6350" cap="flat" cmpd="sng" algn="ctr">
                      <a:solidFill>
                        <a:srgbClr val="3B3A39"/>
                      </a:solidFill>
                      <a:prstDash val="solid"/>
                      <a:round/>
                      <a:headEnd type="none" w="med" len="med"/>
                      <a:tailEnd type="none" w="med" len="med"/>
                    </a:lnB>
                    <a:solidFill>
                      <a:srgbClr val="0078D4"/>
                    </a:solidFill>
                  </a:tcPr>
                </a:tc>
              </a:tr>
              <a:tr h="749808">
                <a:tc>
                  <a:txBody>
                    <a:bodyPr/>
                    <a:lstStyle/>
                    <a:p>
                      <a:pPr indent="0" marL="0">
                        <a:buNone/>
                      </a:pPr>
                      <a:r>
                        <a:rPr lang="en-US" sz="1200" b="1" dirty="0">
                          <a:solidFill>
                            <a:srgbClr val="F3F2F1"/>
                          </a:solidFill>
                          <a:latin typeface="Segoe UI" pitchFamily="34" charset="0"/>
                          <a:ea typeface="Segoe UI" pitchFamily="34" charset="-122"/>
                          <a:cs typeface="Segoe UI" pitchFamily="34" charset="-120"/>
                        </a:rPr>
                        <a:t>Power Automate</a:t>
                      </a:r>
                      <a:endParaRPr lang="en-US" sz="1200" dirty="0">
                        <a:latin typeface="Segoe UI" charset="0"/>
                        <a:ea typeface="Segoe UI" charset="0"/>
                        <a:cs typeface="Segoe UI" charset="0"/>
                      </a:endParaRPr>
                    </a:p>
                  </a:txBody>
                  <a:tcPr marL="91440" marR="91440" marT="45720" marB="45720" anchor="ctr">
                    <a:lnL w="6350" cap="flat" cmpd="sng" algn="ctr">
                      <a:solidFill>
                        <a:srgbClr val="3B3A39"/>
                      </a:solidFill>
                      <a:prstDash val="solid"/>
                      <a:round/>
                      <a:headEnd type="none" w="med" len="med"/>
                      <a:tailEnd type="none" w="med" len="med"/>
                    </a:lnL>
                    <a:lnR w="6350" cap="flat" cmpd="sng" algn="ctr">
                      <a:solidFill>
                        <a:srgbClr val="3B3A39"/>
                      </a:solidFill>
                      <a:prstDash val="solid"/>
                      <a:round/>
                      <a:headEnd type="none" w="med" len="med"/>
                      <a:tailEnd type="none" w="med" len="med"/>
                    </a:lnR>
                    <a:lnT w="6350" cap="flat" cmpd="sng" algn="ctr">
                      <a:solidFill>
                        <a:srgbClr val="3B3A39"/>
                      </a:solidFill>
                      <a:prstDash val="solid"/>
                      <a:round/>
                      <a:headEnd type="none" w="med" len="med"/>
                      <a:tailEnd type="none" w="med" len="med"/>
                    </a:lnT>
                    <a:lnB w="6350" cap="flat" cmpd="sng" algn="ctr">
                      <a:solidFill>
                        <a:srgbClr val="3B3A39"/>
                      </a:solidFill>
                      <a:prstDash val="solid"/>
                      <a:round/>
                      <a:headEnd type="none" w="med" len="med"/>
                      <a:tailEnd type="none" w="med" len="med"/>
                    </a:lnB>
                    <a:solidFill>
                      <a:srgbClr val="252423"/>
                    </a:solidFill>
                  </a:tcPr>
                </a:tc>
                <a:tc>
                  <a:txBody>
                    <a:bodyPr/>
                    <a:lstStyle/>
                    <a:p>
                      <a:pPr indent="0" marL="0">
                        <a:buNone/>
                      </a:pPr>
                      <a:r>
                        <a:rPr lang="en-US" sz="1200" dirty="0">
                          <a:solidFill>
                            <a:srgbClr val="F3F2F1"/>
                          </a:solidFill>
                          <a:latin typeface="Segoe UI" pitchFamily="34" charset="0"/>
                          <a:ea typeface="Segoe UI" pitchFamily="34" charset="-122"/>
                          <a:cs typeface="Segoe UI" pitchFamily="34" charset="-120"/>
                        </a:rPr>
                        <a:t>Cloud flow that uploads a file from a local folder into Blob Storage</a:t>
                      </a:r>
                      <a:endParaRPr lang="en-US" sz="1200" dirty="0">
                        <a:latin typeface="Segoe UI" charset="0"/>
                        <a:ea typeface="Segoe UI" charset="0"/>
                        <a:cs typeface="Segoe UI" charset="0"/>
                      </a:endParaRPr>
                    </a:p>
                  </a:txBody>
                  <a:tcPr marL="91440" marR="91440" marT="45720" marB="45720" anchor="ctr">
                    <a:lnL w="6350" cap="flat" cmpd="sng" algn="ctr">
                      <a:solidFill>
                        <a:srgbClr val="3B3A39"/>
                      </a:solidFill>
                      <a:prstDash val="solid"/>
                      <a:round/>
                      <a:headEnd type="none" w="med" len="med"/>
                      <a:tailEnd type="none" w="med" len="med"/>
                    </a:lnL>
                    <a:lnR w="6350" cap="flat" cmpd="sng" algn="ctr">
                      <a:solidFill>
                        <a:srgbClr val="3B3A39"/>
                      </a:solidFill>
                      <a:prstDash val="solid"/>
                      <a:round/>
                      <a:headEnd type="none" w="med" len="med"/>
                      <a:tailEnd type="none" w="med" len="med"/>
                    </a:lnR>
                    <a:lnT w="6350" cap="flat" cmpd="sng" algn="ctr">
                      <a:solidFill>
                        <a:srgbClr val="3B3A39"/>
                      </a:solidFill>
                      <a:prstDash val="solid"/>
                      <a:round/>
                      <a:headEnd type="none" w="med" len="med"/>
                      <a:tailEnd type="none" w="med" len="med"/>
                    </a:lnT>
                    <a:lnB w="6350" cap="flat" cmpd="sng" algn="ctr">
                      <a:solidFill>
                        <a:srgbClr val="3B3A39"/>
                      </a:solidFill>
                      <a:prstDash val="solid"/>
                      <a:round/>
                      <a:headEnd type="none" w="med" len="med"/>
                      <a:tailEnd type="none" w="med" len="med"/>
                    </a:lnB>
                    <a:solidFill>
                      <a:srgbClr val="252423"/>
                    </a:solidFill>
                  </a:tcPr>
                </a:tc>
                <a:tc>
                  <a:txBody>
                    <a:bodyPr/>
                    <a:lstStyle/>
                    <a:p>
                      <a:pPr indent="0" marL="0">
                        <a:buNone/>
                      </a:pPr>
                      <a:r>
                        <a:rPr lang="en-US" sz="1200" dirty="0">
                          <a:solidFill>
                            <a:srgbClr val="F3F2F1"/>
                          </a:solidFill>
                          <a:latin typeface="Segoe UI" pitchFamily="34" charset="0"/>
                          <a:ea typeface="Segoe UI" pitchFamily="34" charset="-122"/>
                          <a:cs typeface="Segoe UI" pitchFamily="34" charset="-120"/>
                        </a:rPr>
                        <a:t>Entry point / ingestion</a:t>
                      </a:r>
                      <a:endParaRPr lang="en-US" sz="1200" dirty="0">
                        <a:latin typeface="Segoe UI" charset="0"/>
                        <a:ea typeface="Segoe UI" charset="0"/>
                        <a:cs typeface="Segoe UI" charset="0"/>
                      </a:endParaRPr>
                    </a:p>
                  </a:txBody>
                  <a:tcPr marL="91440" marR="91440" marT="45720" marB="45720" anchor="ctr">
                    <a:lnL w="6350" cap="flat" cmpd="sng" algn="ctr">
                      <a:solidFill>
                        <a:srgbClr val="3B3A39"/>
                      </a:solidFill>
                      <a:prstDash val="solid"/>
                      <a:round/>
                      <a:headEnd type="none" w="med" len="med"/>
                      <a:tailEnd type="none" w="med" len="med"/>
                    </a:lnL>
                    <a:lnR w="6350" cap="flat" cmpd="sng" algn="ctr">
                      <a:solidFill>
                        <a:srgbClr val="3B3A39"/>
                      </a:solidFill>
                      <a:prstDash val="solid"/>
                      <a:round/>
                      <a:headEnd type="none" w="med" len="med"/>
                      <a:tailEnd type="none" w="med" len="med"/>
                    </a:lnR>
                    <a:lnT w="6350" cap="flat" cmpd="sng" algn="ctr">
                      <a:solidFill>
                        <a:srgbClr val="3B3A39"/>
                      </a:solidFill>
                      <a:prstDash val="solid"/>
                      <a:round/>
                      <a:headEnd type="none" w="med" len="med"/>
                      <a:tailEnd type="none" w="med" len="med"/>
                    </a:lnT>
                    <a:lnB w="6350" cap="flat" cmpd="sng" algn="ctr">
                      <a:solidFill>
                        <a:srgbClr val="3B3A39"/>
                      </a:solidFill>
                      <a:prstDash val="solid"/>
                      <a:round/>
                      <a:headEnd type="none" w="med" len="med"/>
                      <a:tailEnd type="none" w="med" len="med"/>
                    </a:lnB>
                    <a:solidFill>
                      <a:srgbClr val="252423"/>
                    </a:solidFill>
                  </a:tcPr>
                </a:tc>
              </a:tr>
              <a:tr h="749808">
                <a:tc>
                  <a:txBody>
                    <a:bodyPr/>
                    <a:lstStyle/>
                    <a:p>
                      <a:pPr indent="0" marL="0">
                        <a:buNone/>
                      </a:pPr>
                      <a:r>
                        <a:rPr lang="en-US" sz="1200" b="1" dirty="0">
                          <a:solidFill>
                            <a:srgbClr val="F3F2F1"/>
                          </a:solidFill>
                          <a:latin typeface="Segoe UI" pitchFamily="34" charset="0"/>
                          <a:ea typeface="Segoe UI" pitchFamily="34" charset="-122"/>
                          <a:cs typeface="Segoe UI" pitchFamily="34" charset="-120"/>
                        </a:rPr>
                        <a:t>Azure Blob Storage</a:t>
                      </a:r>
                      <a:endParaRPr lang="en-US" sz="1200" dirty="0">
                        <a:latin typeface="Segoe UI" charset="0"/>
                        <a:ea typeface="Segoe UI" charset="0"/>
                        <a:cs typeface="Segoe UI" charset="0"/>
                      </a:endParaRPr>
                    </a:p>
                  </a:txBody>
                  <a:tcPr marL="91440" marR="91440" marT="45720" marB="45720" anchor="ctr">
                    <a:lnL w="6350" cap="flat" cmpd="sng" algn="ctr">
                      <a:solidFill>
                        <a:srgbClr val="3B3A39"/>
                      </a:solidFill>
                      <a:prstDash val="solid"/>
                      <a:round/>
                      <a:headEnd type="none" w="med" len="med"/>
                      <a:tailEnd type="none" w="med" len="med"/>
                    </a:lnL>
                    <a:lnR w="6350" cap="flat" cmpd="sng" algn="ctr">
                      <a:solidFill>
                        <a:srgbClr val="3B3A39"/>
                      </a:solidFill>
                      <a:prstDash val="solid"/>
                      <a:round/>
                      <a:headEnd type="none" w="med" len="med"/>
                      <a:tailEnd type="none" w="med" len="med"/>
                    </a:lnR>
                    <a:lnT w="6350" cap="flat" cmpd="sng" algn="ctr">
                      <a:solidFill>
                        <a:srgbClr val="3B3A39"/>
                      </a:solidFill>
                      <a:prstDash val="solid"/>
                      <a:round/>
                      <a:headEnd type="none" w="med" len="med"/>
                      <a:tailEnd type="none" w="med" len="med"/>
                    </a:lnT>
                    <a:lnB w="6350" cap="flat" cmpd="sng" algn="ctr">
                      <a:solidFill>
                        <a:srgbClr val="3B3A39"/>
                      </a:solidFill>
                      <a:prstDash val="solid"/>
                      <a:round/>
                      <a:headEnd type="none" w="med" len="med"/>
                      <a:tailEnd type="none" w="med" len="med"/>
                    </a:lnB>
                    <a:solidFill>
                      <a:srgbClr val="2A2928"/>
                    </a:solidFill>
                  </a:tcPr>
                </a:tc>
                <a:tc>
                  <a:txBody>
                    <a:bodyPr/>
                    <a:lstStyle/>
                    <a:p>
                      <a:pPr indent="0" marL="0">
                        <a:buNone/>
                      </a:pPr>
                      <a:r>
                        <a:rPr lang="en-US" sz="1200" dirty="0">
                          <a:solidFill>
                            <a:srgbClr val="F3F2F1"/>
                          </a:solidFill>
                          <a:latin typeface="Segoe UI" pitchFamily="34" charset="0"/>
                          <a:ea typeface="Segoe UI" pitchFamily="34" charset="-122"/>
                          <a:cs typeface="Segoe UI" pitchFamily="34" charset="-120"/>
                        </a:rPr>
                        <a:t>Three containers: incoming, processed, errors</a:t>
                      </a:r>
                      <a:endParaRPr lang="en-US" sz="1200" dirty="0">
                        <a:latin typeface="Segoe UI" charset="0"/>
                        <a:ea typeface="Segoe UI" charset="0"/>
                        <a:cs typeface="Segoe UI" charset="0"/>
                      </a:endParaRPr>
                    </a:p>
                  </a:txBody>
                  <a:tcPr marL="91440" marR="91440" marT="45720" marB="45720" anchor="ctr">
                    <a:lnL w="6350" cap="flat" cmpd="sng" algn="ctr">
                      <a:solidFill>
                        <a:srgbClr val="3B3A39"/>
                      </a:solidFill>
                      <a:prstDash val="solid"/>
                      <a:round/>
                      <a:headEnd type="none" w="med" len="med"/>
                      <a:tailEnd type="none" w="med" len="med"/>
                    </a:lnL>
                    <a:lnR w="6350" cap="flat" cmpd="sng" algn="ctr">
                      <a:solidFill>
                        <a:srgbClr val="3B3A39"/>
                      </a:solidFill>
                      <a:prstDash val="solid"/>
                      <a:round/>
                      <a:headEnd type="none" w="med" len="med"/>
                      <a:tailEnd type="none" w="med" len="med"/>
                    </a:lnR>
                    <a:lnT w="6350" cap="flat" cmpd="sng" algn="ctr">
                      <a:solidFill>
                        <a:srgbClr val="3B3A39"/>
                      </a:solidFill>
                      <a:prstDash val="solid"/>
                      <a:round/>
                      <a:headEnd type="none" w="med" len="med"/>
                      <a:tailEnd type="none" w="med" len="med"/>
                    </a:lnT>
                    <a:lnB w="6350" cap="flat" cmpd="sng" algn="ctr">
                      <a:solidFill>
                        <a:srgbClr val="3B3A39"/>
                      </a:solidFill>
                      <a:prstDash val="solid"/>
                      <a:round/>
                      <a:headEnd type="none" w="med" len="med"/>
                      <a:tailEnd type="none" w="med" len="med"/>
                    </a:lnB>
                    <a:solidFill>
                      <a:srgbClr val="2A2928"/>
                    </a:solidFill>
                  </a:tcPr>
                </a:tc>
                <a:tc>
                  <a:txBody>
                    <a:bodyPr/>
                    <a:lstStyle/>
                    <a:p>
                      <a:pPr indent="0" marL="0">
                        <a:buNone/>
                      </a:pPr>
                      <a:r>
                        <a:rPr lang="en-US" sz="1200" dirty="0">
                          <a:solidFill>
                            <a:srgbClr val="F3F2F1"/>
                          </a:solidFill>
                          <a:latin typeface="Segoe UI" pitchFamily="34" charset="0"/>
                          <a:ea typeface="Segoe UI" pitchFamily="34" charset="-122"/>
                          <a:cs typeface="Segoe UI" pitchFamily="34" charset="-120"/>
                        </a:rPr>
                        <a:t>Durable, low-cost object storage</a:t>
                      </a:r>
                      <a:endParaRPr lang="en-US" sz="1200" dirty="0">
                        <a:latin typeface="Segoe UI" charset="0"/>
                        <a:ea typeface="Segoe UI" charset="0"/>
                        <a:cs typeface="Segoe UI" charset="0"/>
                      </a:endParaRPr>
                    </a:p>
                  </a:txBody>
                  <a:tcPr marL="91440" marR="91440" marT="45720" marB="45720" anchor="ctr">
                    <a:lnL w="6350" cap="flat" cmpd="sng" algn="ctr">
                      <a:solidFill>
                        <a:srgbClr val="3B3A39"/>
                      </a:solidFill>
                      <a:prstDash val="solid"/>
                      <a:round/>
                      <a:headEnd type="none" w="med" len="med"/>
                      <a:tailEnd type="none" w="med" len="med"/>
                    </a:lnL>
                    <a:lnR w="6350" cap="flat" cmpd="sng" algn="ctr">
                      <a:solidFill>
                        <a:srgbClr val="3B3A39"/>
                      </a:solidFill>
                      <a:prstDash val="solid"/>
                      <a:round/>
                      <a:headEnd type="none" w="med" len="med"/>
                      <a:tailEnd type="none" w="med" len="med"/>
                    </a:lnR>
                    <a:lnT w="6350" cap="flat" cmpd="sng" algn="ctr">
                      <a:solidFill>
                        <a:srgbClr val="3B3A39"/>
                      </a:solidFill>
                      <a:prstDash val="solid"/>
                      <a:round/>
                      <a:headEnd type="none" w="med" len="med"/>
                      <a:tailEnd type="none" w="med" len="med"/>
                    </a:lnT>
                    <a:lnB w="6350" cap="flat" cmpd="sng" algn="ctr">
                      <a:solidFill>
                        <a:srgbClr val="3B3A39"/>
                      </a:solidFill>
                      <a:prstDash val="solid"/>
                      <a:round/>
                      <a:headEnd type="none" w="med" len="med"/>
                      <a:tailEnd type="none" w="med" len="med"/>
                    </a:lnB>
                    <a:solidFill>
                      <a:srgbClr val="2A2928"/>
                    </a:solidFill>
                  </a:tcPr>
                </a:tc>
              </a:tr>
              <a:tr h="749808">
                <a:tc>
                  <a:txBody>
                    <a:bodyPr/>
                    <a:lstStyle/>
                    <a:p>
                      <a:pPr indent="0" marL="0">
                        <a:buNone/>
                      </a:pPr>
                      <a:r>
                        <a:rPr lang="en-US" sz="1200" b="1" dirty="0">
                          <a:solidFill>
                            <a:srgbClr val="F3F2F1"/>
                          </a:solidFill>
                          <a:latin typeface="Segoe UI" pitchFamily="34" charset="0"/>
                          <a:ea typeface="Segoe UI" pitchFamily="34" charset="-122"/>
                          <a:cs typeface="Segoe UI" pitchFamily="34" charset="-120"/>
                        </a:rPr>
                        <a:t>Azure Logic Apps (Consumption)</a:t>
                      </a:r>
                      <a:endParaRPr lang="en-US" sz="1200" dirty="0">
                        <a:latin typeface="Segoe UI" charset="0"/>
                        <a:ea typeface="Segoe UI" charset="0"/>
                        <a:cs typeface="Segoe UI" charset="0"/>
                      </a:endParaRPr>
                    </a:p>
                  </a:txBody>
                  <a:tcPr marL="91440" marR="91440" marT="45720" marB="45720" anchor="ctr">
                    <a:lnL w="6350" cap="flat" cmpd="sng" algn="ctr">
                      <a:solidFill>
                        <a:srgbClr val="3B3A39"/>
                      </a:solidFill>
                      <a:prstDash val="solid"/>
                      <a:round/>
                      <a:headEnd type="none" w="med" len="med"/>
                      <a:tailEnd type="none" w="med" len="med"/>
                    </a:lnL>
                    <a:lnR w="6350" cap="flat" cmpd="sng" algn="ctr">
                      <a:solidFill>
                        <a:srgbClr val="3B3A39"/>
                      </a:solidFill>
                      <a:prstDash val="solid"/>
                      <a:round/>
                      <a:headEnd type="none" w="med" len="med"/>
                      <a:tailEnd type="none" w="med" len="med"/>
                    </a:lnR>
                    <a:lnT w="6350" cap="flat" cmpd="sng" algn="ctr">
                      <a:solidFill>
                        <a:srgbClr val="3B3A39"/>
                      </a:solidFill>
                      <a:prstDash val="solid"/>
                      <a:round/>
                      <a:headEnd type="none" w="med" len="med"/>
                      <a:tailEnd type="none" w="med" len="med"/>
                    </a:lnT>
                    <a:lnB w="6350" cap="flat" cmpd="sng" algn="ctr">
                      <a:solidFill>
                        <a:srgbClr val="3B3A39"/>
                      </a:solidFill>
                      <a:prstDash val="solid"/>
                      <a:round/>
                      <a:headEnd type="none" w="med" len="med"/>
                      <a:tailEnd type="none" w="med" len="med"/>
                    </a:lnB>
                    <a:solidFill>
                      <a:srgbClr val="252423"/>
                    </a:solidFill>
                  </a:tcPr>
                </a:tc>
                <a:tc>
                  <a:txBody>
                    <a:bodyPr/>
                    <a:lstStyle/>
                    <a:p>
                      <a:pPr indent="0" marL="0">
                        <a:buNone/>
                      </a:pPr>
                      <a:r>
                        <a:rPr lang="en-US" sz="1200" dirty="0">
                          <a:solidFill>
                            <a:srgbClr val="F3F2F1"/>
                          </a:solidFill>
                          <a:latin typeface="Segoe UI" pitchFamily="34" charset="0"/>
                          <a:ea typeface="Segoe UI" pitchFamily="34" charset="-122"/>
                          <a:cs typeface="Segoe UI" pitchFamily="34" charset="-120"/>
                        </a:rPr>
                        <a:t>Blob-triggered workflow that orchestrates the analyze-and-poll pattern</a:t>
                      </a:r>
                      <a:endParaRPr lang="en-US" sz="1200" dirty="0">
                        <a:latin typeface="Segoe UI" charset="0"/>
                        <a:ea typeface="Segoe UI" charset="0"/>
                        <a:cs typeface="Segoe UI" charset="0"/>
                      </a:endParaRPr>
                    </a:p>
                  </a:txBody>
                  <a:tcPr marL="91440" marR="91440" marT="45720" marB="45720" anchor="ctr">
                    <a:lnL w="6350" cap="flat" cmpd="sng" algn="ctr">
                      <a:solidFill>
                        <a:srgbClr val="3B3A39"/>
                      </a:solidFill>
                      <a:prstDash val="solid"/>
                      <a:round/>
                      <a:headEnd type="none" w="med" len="med"/>
                      <a:tailEnd type="none" w="med" len="med"/>
                    </a:lnL>
                    <a:lnR w="6350" cap="flat" cmpd="sng" algn="ctr">
                      <a:solidFill>
                        <a:srgbClr val="3B3A39"/>
                      </a:solidFill>
                      <a:prstDash val="solid"/>
                      <a:round/>
                      <a:headEnd type="none" w="med" len="med"/>
                      <a:tailEnd type="none" w="med" len="med"/>
                    </a:lnR>
                    <a:lnT w="6350" cap="flat" cmpd="sng" algn="ctr">
                      <a:solidFill>
                        <a:srgbClr val="3B3A39"/>
                      </a:solidFill>
                      <a:prstDash val="solid"/>
                      <a:round/>
                      <a:headEnd type="none" w="med" len="med"/>
                      <a:tailEnd type="none" w="med" len="med"/>
                    </a:lnT>
                    <a:lnB w="6350" cap="flat" cmpd="sng" algn="ctr">
                      <a:solidFill>
                        <a:srgbClr val="3B3A39"/>
                      </a:solidFill>
                      <a:prstDash val="solid"/>
                      <a:round/>
                      <a:headEnd type="none" w="med" len="med"/>
                      <a:tailEnd type="none" w="med" len="med"/>
                    </a:lnB>
                    <a:solidFill>
                      <a:srgbClr val="252423"/>
                    </a:solidFill>
                  </a:tcPr>
                </a:tc>
                <a:tc>
                  <a:txBody>
                    <a:bodyPr/>
                    <a:lstStyle/>
                    <a:p>
                      <a:pPr indent="0" marL="0">
                        <a:buNone/>
                      </a:pPr>
                      <a:r>
                        <a:rPr lang="en-US" sz="1200" dirty="0">
                          <a:solidFill>
                            <a:srgbClr val="F3F2F1"/>
                          </a:solidFill>
                          <a:latin typeface="Segoe UI" pitchFamily="34" charset="0"/>
                          <a:ea typeface="Segoe UI" pitchFamily="34" charset="-122"/>
                          <a:cs typeface="Segoe UI" pitchFamily="34" charset="-120"/>
                        </a:rPr>
                        <a:t>Serverless orchestration, no code</a:t>
                      </a:r>
                      <a:endParaRPr lang="en-US" sz="1200" dirty="0">
                        <a:latin typeface="Segoe UI" charset="0"/>
                        <a:ea typeface="Segoe UI" charset="0"/>
                        <a:cs typeface="Segoe UI" charset="0"/>
                      </a:endParaRPr>
                    </a:p>
                  </a:txBody>
                  <a:tcPr marL="91440" marR="91440" marT="45720" marB="45720" anchor="ctr">
                    <a:lnL w="6350" cap="flat" cmpd="sng" algn="ctr">
                      <a:solidFill>
                        <a:srgbClr val="3B3A39"/>
                      </a:solidFill>
                      <a:prstDash val="solid"/>
                      <a:round/>
                      <a:headEnd type="none" w="med" len="med"/>
                      <a:tailEnd type="none" w="med" len="med"/>
                    </a:lnL>
                    <a:lnR w="6350" cap="flat" cmpd="sng" algn="ctr">
                      <a:solidFill>
                        <a:srgbClr val="3B3A39"/>
                      </a:solidFill>
                      <a:prstDash val="solid"/>
                      <a:round/>
                      <a:headEnd type="none" w="med" len="med"/>
                      <a:tailEnd type="none" w="med" len="med"/>
                    </a:lnR>
                    <a:lnT w="6350" cap="flat" cmpd="sng" algn="ctr">
                      <a:solidFill>
                        <a:srgbClr val="3B3A39"/>
                      </a:solidFill>
                      <a:prstDash val="solid"/>
                      <a:round/>
                      <a:headEnd type="none" w="med" len="med"/>
                      <a:tailEnd type="none" w="med" len="med"/>
                    </a:lnT>
                    <a:lnB w="6350" cap="flat" cmpd="sng" algn="ctr">
                      <a:solidFill>
                        <a:srgbClr val="3B3A39"/>
                      </a:solidFill>
                      <a:prstDash val="solid"/>
                      <a:round/>
                      <a:headEnd type="none" w="med" len="med"/>
                      <a:tailEnd type="none" w="med" len="med"/>
                    </a:lnB>
                    <a:solidFill>
                      <a:srgbClr val="252423"/>
                    </a:solidFill>
                  </a:tcPr>
                </a:tc>
              </a:tr>
              <a:tr h="749808">
                <a:tc>
                  <a:txBody>
                    <a:bodyPr/>
                    <a:lstStyle/>
                    <a:p>
                      <a:pPr indent="0" marL="0">
                        <a:buNone/>
                      </a:pPr>
                      <a:r>
                        <a:rPr lang="en-US" sz="1200" b="1" dirty="0">
                          <a:solidFill>
                            <a:srgbClr val="F3F2F1"/>
                          </a:solidFill>
                          <a:latin typeface="Segoe UI" pitchFamily="34" charset="0"/>
                          <a:ea typeface="Segoe UI" pitchFamily="34" charset="-122"/>
                          <a:cs typeface="Segoe UI" pitchFamily="34" charset="-120"/>
                        </a:rPr>
                        <a:t>Azure Content Understanding</a:t>
                      </a:r>
                      <a:endParaRPr lang="en-US" sz="1200" dirty="0">
                        <a:latin typeface="Segoe UI" charset="0"/>
                        <a:ea typeface="Segoe UI" charset="0"/>
                        <a:cs typeface="Segoe UI" charset="0"/>
                      </a:endParaRPr>
                    </a:p>
                  </a:txBody>
                  <a:tcPr marL="91440" marR="91440" marT="45720" marB="45720" anchor="ctr">
                    <a:lnL w="6350" cap="flat" cmpd="sng" algn="ctr">
                      <a:solidFill>
                        <a:srgbClr val="3B3A39"/>
                      </a:solidFill>
                      <a:prstDash val="solid"/>
                      <a:round/>
                      <a:headEnd type="none" w="med" len="med"/>
                      <a:tailEnd type="none" w="med" len="med"/>
                    </a:lnL>
                    <a:lnR w="6350" cap="flat" cmpd="sng" algn="ctr">
                      <a:solidFill>
                        <a:srgbClr val="3B3A39"/>
                      </a:solidFill>
                      <a:prstDash val="solid"/>
                      <a:round/>
                      <a:headEnd type="none" w="med" len="med"/>
                      <a:tailEnd type="none" w="med" len="med"/>
                    </a:lnR>
                    <a:lnT w="6350" cap="flat" cmpd="sng" algn="ctr">
                      <a:solidFill>
                        <a:srgbClr val="3B3A39"/>
                      </a:solidFill>
                      <a:prstDash val="solid"/>
                      <a:round/>
                      <a:headEnd type="none" w="med" len="med"/>
                      <a:tailEnd type="none" w="med" len="med"/>
                    </a:lnT>
                    <a:lnB w="6350" cap="flat" cmpd="sng" algn="ctr">
                      <a:solidFill>
                        <a:srgbClr val="3B3A39"/>
                      </a:solidFill>
                      <a:prstDash val="solid"/>
                      <a:round/>
                      <a:headEnd type="none" w="med" len="med"/>
                      <a:tailEnd type="none" w="med" len="med"/>
                    </a:lnB>
                    <a:solidFill>
                      <a:srgbClr val="2A2928"/>
                    </a:solidFill>
                  </a:tcPr>
                </a:tc>
                <a:tc>
                  <a:txBody>
                    <a:bodyPr/>
                    <a:lstStyle/>
                    <a:p>
                      <a:pPr indent="0" marL="0">
                        <a:buNone/>
                      </a:pPr>
                      <a:r>
                        <a:rPr lang="en-US" sz="1200" dirty="0">
                          <a:solidFill>
                            <a:srgbClr val="F3F2F1"/>
                          </a:solidFill>
                          <a:latin typeface="Segoe UI" pitchFamily="34" charset="0"/>
                          <a:ea typeface="Segoe UI" pitchFamily="34" charset="-122"/>
                          <a:cs typeface="Segoe UI" pitchFamily="34" charset="-120"/>
                        </a:rPr>
                        <a:t>Custom analyzer extracts, classifies, and generates structured fields</a:t>
                      </a:r>
                      <a:endParaRPr lang="en-US" sz="1200" dirty="0">
                        <a:latin typeface="Segoe UI" charset="0"/>
                        <a:ea typeface="Segoe UI" charset="0"/>
                        <a:cs typeface="Segoe UI" charset="0"/>
                      </a:endParaRPr>
                    </a:p>
                  </a:txBody>
                  <a:tcPr marL="91440" marR="91440" marT="45720" marB="45720" anchor="ctr">
                    <a:lnL w="6350" cap="flat" cmpd="sng" algn="ctr">
                      <a:solidFill>
                        <a:srgbClr val="3B3A39"/>
                      </a:solidFill>
                      <a:prstDash val="solid"/>
                      <a:round/>
                      <a:headEnd type="none" w="med" len="med"/>
                      <a:tailEnd type="none" w="med" len="med"/>
                    </a:lnL>
                    <a:lnR w="6350" cap="flat" cmpd="sng" algn="ctr">
                      <a:solidFill>
                        <a:srgbClr val="3B3A39"/>
                      </a:solidFill>
                      <a:prstDash val="solid"/>
                      <a:round/>
                      <a:headEnd type="none" w="med" len="med"/>
                      <a:tailEnd type="none" w="med" len="med"/>
                    </a:lnR>
                    <a:lnT w="6350" cap="flat" cmpd="sng" algn="ctr">
                      <a:solidFill>
                        <a:srgbClr val="3B3A39"/>
                      </a:solidFill>
                      <a:prstDash val="solid"/>
                      <a:round/>
                      <a:headEnd type="none" w="med" len="med"/>
                      <a:tailEnd type="none" w="med" len="med"/>
                    </a:lnT>
                    <a:lnB w="6350" cap="flat" cmpd="sng" algn="ctr">
                      <a:solidFill>
                        <a:srgbClr val="3B3A39"/>
                      </a:solidFill>
                      <a:prstDash val="solid"/>
                      <a:round/>
                      <a:headEnd type="none" w="med" len="med"/>
                      <a:tailEnd type="none" w="med" len="med"/>
                    </a:lnB>
                    <a:solidFill>
                      <a:srgbClr val="2A2928"/>
                    </a:solidFill>
                  </a:tcPr>
                </a:tc>
                <a:tc>
                  <a:txBody>
                    <a:bodyPr/>
                    <a:lstStyle/>
                    <a:p>
                      <a:pPr indent="0" marL="0">
                        <a:buNone/>
                      </a:pPr>
                      <a:r>
                        <a:rPr lang="en-US" sz="1200" dirty="0">
                          <a:solidFill>
                            <a:srgbClr val="F3F2F1"/>
                          </a:solidFill>
                          <a:latin typeface="Segoe UI" pitchFamily="34" charset="0"/>
                          <a:ea typeface="Segoe UI" pitchFamily="34" charset="-122"/>
                          <a:cs typeface="Segoe UI" pitchFamily="34" charset="-120"/>
                        </a:rPr>
                        <a:t>AI extraction engine</a:t>
                      </a:r>
                      <a:endParaRPr lang="en-US" sz="1200" dirty="0">
                        <a:latin typeface="Segoe UI" charset="0"/>
                        <a:ea typeface="Segoe UI" charset="0"/>
                        <a:cs typeface="Segoe UI" charset="0"/>
                      </a:endParaRPr>
                    </a:p>
                  </a:txBody>
                  <a:tcPr marL="91440" marR="91440" marT="45720" marB="45720" anchor="ctr">
                    <a:lnL w="6350" cap="flat" cmpd="sng" algn="ctr">
                      <a:solidFill>
                        <a:srgbClr val="3B3A39"/>
                      </a:solidFill>
                      <a:prstDash val="solid"/>
                      <a:round/>
                      <a:headEnd type="none" w="med" len="med"/>
                      <a:tailEnd type="none" w="med" len="med"/>
                    </a:lnL>
                    <a:lnR w="6350" cap="flat" cmpd="sng" algn="ctr">
                      <a:solidFill>
                        <a:srgbClr val="3B3A39"/>
                      </a:solidFill>
                      <a:prstDash val="solid"/>
                      <a:round/>
                      <a:headEnd type="none" w="med" len="med"/>
                      <a:tailEnd type="none" w="med" len="med"/>
                    </a:lnR>
                    <a:lnT w="6350" cap="flat" cmpd="sng" algn="ctr">
                      <a:solidFill>
                        <a:srgbClr val="3B3A39"/>
                      </a:solidFill>
                      <a:prstDash val="solid"/>
                      <a:round/>
                      <a:headEnd type="none" w="med" len="med"/>
                      <a:tailEnd type="none" w="med" len="med"/>
                    </a:lnT>
                    <a:lnB w="6350" cap="flat" cmpd="sng" algn="ctr">
                      <a:solidFill>
                        <a:srgbClr val="3B3A39"/>
                      </a:solidFill>
                      <a:prstDash val="solid"/>
                      <a:round/>
                      <a:headEnd type="none" w="med" len="med"/>
                      <a:tailEnd type="none" w="med" len="med"/>
                    </a:lnB>
                    <a:solidFill>
                      <a:srgbClr val="2A2928"/>
                    </a:solidFill>
                  </a:tcPr>
                </a:tc>
              </a:tr>
              <a:tr h="749808">
                <a:tc>
                  <a:txBody>
                    <a:bodyPr/>
                    <a:lstStyle/>
                    <a:p>
                      <a:pPr indent="0" marL="0">
                        <a:buNone/>
                      </a:pPr>
                      <a:r>
                        <a:rPr lang="en-US" sz="1200" b="1" dirty="0">
                          <a:solidFill>
                            <a:srgbClr val="F3F2F1"/>
                          </a:solidFill>
                          <a:latin typeface="Segoe UI" pitchFamily="34" charset="0"/>
                          <a:ea typeface="Segoe UI" pitchFamily="34" charset="-122"/>
                          <a:cs typeface="Segoe UI" pitchFamily="34" charset="-120"/>
                        </a:rPr>
                        <a:t>Managed Identity + RBAC</a:t>
                      </a:r>
                      <a:endParaRPr lang="en-US" sz="1200" dirty="0">
                        <a:latin typeface="Segoe UI" charset="0"/>
                        <a:ea typeface="Segoe UI" charset="0"/>
                        <a:cs typeface="Segoe UI" charset="0"/>
                      </a:endParaRPr>
                    </a:p>
                  </a:txBody>
                  <a:tcPr marL="91440" marR="91440" marT="45720" marB="45720" anchor="ctr">
                    <a:lnL w="6350" cap="flat" cmpd="sng" algn="ctr">
                      <a:solidFill>
                        <a:srgbClr val="3B3A39"/>
                      </a:solidFill>
                      <a:prstDash val="solid"/>
                      <a:round/>
                      <a:headEnd type="none" w="med" len="med"/>
                      <a:tailEnd type="none" w="med" len="med"/>
                    </a:lnL>
                    <a:lnR w="6350" cap="flat" cmpd="sng" algn="ctr">
                      <a:solidFill>
                        <a:srgbClr val="3B3A39"/>
                      </a:solidFill>
                      <a:prstDash val="solid"/>
                      <a:round/>
                      <a:headEnd type="none" w="med" len="med"/>
                      <a:tailEnd type="none" w="med" len="med"/>
                    </a:lnR>
                    <a:lnT w="6350" cap="flat" cmpd="sng" algn="ctr">
                      <a:solidFill>
                        <a:srgbClr val="3B3A39"/>
                      </a:solidFill>
                      <a:prstDash val="solid"/>
                      <a:round/>
                      <a:headEnd type="none" w="med" len="med"/>
                      <a:tailEnd type="none" w="med" len="med"/>
                    </a:lnT>
                    <a:lnB w="6350" cap="flat" cmpd="sng" algn="ctr">
                      <a:solidFill>
                        <a:srgbClr val="3B3A39"/>
                      </a:solidFill>
                      <a:prstDash val="solid"/>
                      <a:round/>
                      <a:headEnd type="none" w="med" len="med"/>
                      <a:tailEnd type="none" w="med" len="med"/>
                    </a:lnB>
                    <a:solidFill>
                      <a:srgbClr val="252423"/>
                    </a:solidFill>
                  </a:tcPr>
                </a:tc>
                <a:tc>
                  <a:txBody>
                    <a:bodyPr/>
                    <a:lstStyle/>
                    <a:p>
                      <a:pPr indent="0" marL="0">
                        <a:buNone/>
                      </a:pPr>
                      <a:r>
                        <a:rPr lang="en-US" sz="1200" dirty="0">
                          <a:solidFill>
                            <a:srgbClr val="F3F2F1"/>
                          </a:solidFill>
                          <a:latin typeface="Segoe UI" pitchFamily="34" charset="0"/>
                          <a:ea typeface="Segoe UI" pitchFamily="34" charset="-122"/>
                          <a:cs typeface="Segoe UI" pitchFamily="34" charset="-120"/>
                        </a:rPr>
                        <a:t>Logic App identity is granted Cognitive Services User on the Foundry resource</a:t>
                      </a:r>
                      <a:endParaRPr lang="en-US" sz="1200" dirty="0">
                        <a:latin typeface="Segoe UI" charset="0"/>
                        <a:ea typeface="Segoe UI" charset="0"/>
                        <a:cs typeface="Segoe UI" charset="0"/>
                      </a:endParaRPr>
                    </a:p>
                  </a:txBody>
                  <a:tcPr marL="91440" marR="91440" marT="45720" marB="45720" anchor="ctr">
                    <a:lnL w="6350" cap="flat" cmpd="sng" algn="ctr">
                      <a:solidFill>
                        <a:srgbClr val="3B3A39"/>
                      </a:solidFill>
                      <a:prstDash val="solid"/>
                      <a:round/>
                      <a:headEnd type="none" w="med" len="med"/>
                      <a:tailEnd type="none" w="med" len="med"/>
                    </a:lnL>
                    <a:lnR w="6350" cap="flat" cmpd="sng" algn="ctr">
                      <a:solidFill>
                        <a:srgbClr val="3B3A39"/>
                      </a:solidFill>
                      <a:prstDash val="solid"/>
                      <a:round/>
                      <a:headEnd type="none" w="med" len="med"/>
                      <a:tailEnd type="none" w="med" len="med"/>
                    </a:lnR>
                    <a:lnT w="6350" cap="flat" cmpd="sng" algn="ctr">
                      <a:solidFill>
                        <a:srgbClr val="3B3A39"/>
                      </a:solidFill>
                      <a:prstDash val="solid"/>
                      <a:round/>
                      <a:headEnd type="none" w="med" len="med"/>
                      <a:tailEnd type="none" w="med" len="med"/>
                    </a:lnT>
                    <a:lnB w="6350" cap="flat" cmpd="sng" algn="ctr">
                      <a:solidFill>
                        <a:srgbClr val="3B3A39"/>
                      </a:solidFill>
                      <a:prstDash val="solid"/>
                      <a:round/>
                      <a:headEnd type="none" w="med" len="med"/>
                      <a:tailEnd type="none" w="med" len="med"/>
                    </a:lnB>
                    <a:solidFill>
                      <a:srgbClr val="252423"/>
                    </a:solidFill>
                  </a:tcPr>
                </a:tc>
                <a:tc>
                  <a:txBody>
                    <a:bodyPr/>
                    <a:lstStyle/>
                    <a:p>
                      <a:pPr indent="0" marL="0">
                        <a:buNone/>
                      </a:pPr>
                      <a:r>
                        <a:rPr lang="en-US" sz="1200" dirty="0">
                          <a:solidFill>
                            <a:srgbClr val="F3F2F1"/>
                          </a:solidFill>
                          <a:latin typeface="Segoe UI" pitchFamily="34" charset="0"/>
                          <a:ea typeface="Segoe UI" pitchFamily="34" charset="-122"/>
                          <a:cs typeface="Segoe UI" pitchFamily="34" charset="-120"/>
                        </a:rPr>
                        <a:t>Secretless, least-privilege auth</a:t>
                      </a:r>
                      <a:endParaRPr lang="en-US" sz="1200" dirty="0">
                        <a:latin typeface="Segoe UI" charset="0"/>
                        <a:ea typeface="Segoe UI" charset="0"/>
                        <a:cs typeface="Segoe UI" charset="0"/>
                      </a:endParaRPr>
                    </a:p>
                  </a:txBody>
                  <a:tcPr marL="91440" marR="91440" marT="45720" marB="45720" anchor="ctr">
                    <a:lnL w="6350" cap="flat" cmpd="sng" algn="ctr">
                      <a:solidFill>
                        <a:srgbClr val="3B3A39"/>
                      </a:solidFill>
                      <a:prstDash val="solid"/>
                      <a:round/>
                      <a:headEnd type="none" w="med" len="med"/>
                      <a:tailEnd type="none" w="med" len="med"/>
                    </a:lnL>
                    <a:lnR w="6350" cap="flat" cmpd="sng" algn="ctr">
                      <a:solidFill>
                        <a:srgbClr val="3B3A39"/>
                      </a:solidFill>
                      <a:prstDash val="solid"/>
                      <a:round/>
                      <a:headEnd type="none" w="med" len="med"/>
                      <a:tailEnd type="none" w="med" len="med"/>
                    </a:lnR>
                    <a:lnT w="6350" cap="flat" cmpd="sng" algn="ctr">
                      <a:solidFill>
                        <a:srgbClr val="3B3A39"/>
                      </a:solidFill>
                      <a:prstDash val="solid"/>
                      <a:round/>
                      <a:headEnd type="none" w="med" len="med"/>
                      <a:tailEnd type="none" w="med" len="med"/>
                    </a:lnT>
                    <a:lnB w="6350" cap="flat" cmpd="sng" algn="ctr">
                      <a:solidFill>
                        <a:srgbClr val="3B3A39"/>
                      </a:solidFill>
                      <a:prstDash val="solid"/>
                      <a:round/>
                      <a:headEnd type="none" w="med" len="med"/>
                      <a:tailEnd type="none" w="med" len="med"/>
                    </a:lnB>
                    <a:solidFill>
                      <a:srgbClr val="252423"/>
                    </a:solidFill>
                  </a:tcPr>
                </a:tc>
              </a:tr>
            </a:tbl>
          </a:graphicData>
        </a:graphic>
      </p:graphicFrame>
      <p:sp>
        <p:nvSpPr>
          <p:cNvPr id="5" name="Text 2"/>
          <p:cNvSpPr/>
          <p:nvPr/>
        </p:nvSpPr>
        <p:spPr>
          <a:xfrm>
            <a:off x="457200" y="6419088"/>
            <a:ext cx="7315200" cy="274320"/>
          </a:xfrm>
          <a:prstGeom prst="rect">
            <a:avLst/>
          </a:prstGeom>
          <a:noFill/>
          <a:ln/>
        </p:spPr>
        <p:txBody>
          <a:bodyPr wrap="square" lIns="0" tIns="0" rIns="0" bIns="0" rtlCol="0" anchor="ctr"/>
          <a:lstStyle/>
          <a:p>
            <a:pPr indent="0" marL="0">
              <a:buNone/>
            </a:pPr>
            <a:r>
              <a:rPr lang="en-US" sz="900" dirty="0">
                <a:solidFill>
                  <a:srgbClr val="8A8886"/>
                </a:solidFill>
                <a:latin typeface="Segoe UI" pitchFamily="34" charset="0"/>
                <a:ea typeface="Segoe UI" pitchFamily="34" charset="-122"/>
                <a:cs typeface="Segoe UI" pitchFamily="34" charset="-120"/>
              </a:rPr>
              <a:t>Fax Ingest &amp; Extraction with Azure Content Understanding</a:t>
            </a:r>
            <a:endParaRPr lang="en-US" sz="900" dirty="0"/>
          </a:p>
        </p:txBody>
      </p:sp>
      <p:sp>
        <p:nvSpPr>
          <p:cNvPr id="6" name="Text 3"/>
          <p:cNvSpPr/>
          <p:nvPr/>
        </p:nvSpPr>
        <p:spPr>
          <a:xfrm>
            <a:off x="11247120" y="6419088"/>
            <a:ext cx="457200" cy="274320"/>
          </a:xfrm>
          <a:prstGeom prst="rect">
            <a:avLst/>
          </a:prstGeom>
          <a:noFill/>
          <a:ln/>
        </p:spPr>
        <p:txBody>
          <a:bodyPr wrap="square" lIns="0" tIns="0" rIns="0" bIns="0" rtlCol="0" anchor="ctr"/>
          <a:lstStyle/>
          <a:p>
            <a:pPr algn="r" indent="0" marL="0">
              <a:buNone/>
            </a:pPr>
            <a:r>
              <a:rPr lang="en-US" sz="900" dirty="0">
                <a:solidFill>
                  <a:srgbClr val="8A8886"/>
                </a:solidFill>
                <a:latin typeface="Segoe UI" pitchFamily="34" charset="0"/>
                <a:ea typeface="Segoe UI" pitchFamily="34" charset="-122"/>
                <a:cs typeface="Segoe U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1A19"/>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50E6FF"/>
                </a:solidFill>
                <a:latin typeface="Segoe UI" pitchFamily="34" charset="0"/>
                <a:ea typeface="Segoe UI" pitchFamily="34" charset="-122"/>
                <a:cs typeface="Segoe UI" pitchFamily="34" charset="-120"/>
              </a:rPr>
              <a:t>THE FLOW — PART 1</a:t>
            </a:r>
            <a:endParaRPr lang="en-US" sz="1300" dirty="0"/>
          </a:p>
        </p:txBody>
      </p:sp>
      <p:sp>
        <p:nvSpPr>
          <p:cNvPr id="3" name="Text 1"/>
          <p:cNvSpPr/>
          <p:nvPr/>
        </p:nvSpPr>
        <p:spPr>
          <a:xfrm>
            <a:off x="548640" y="658368"/>
            <a:ext cx="10515600" cy="777240"/>
          </a:xfrm>
          <a:prstGeom prst="rect">
            <a:avLst/>
          </a:prstGeom>
          <a:noFill/>
          <a:ln/>
        </p:spPr>
        <p:txBody>
          <a:bodyPr wrap="square" lIns="0" tIns="0" rIns="0" bIns="0" rtlCol="0" anchor="ctr"/>
          <a:lstStyle/>
          <a:p>
            <a:pPr indent="0" marL="0">
              <a:buNone/>
            </a:pPr>
            <a:r>
              <a:rPr lang="en-US" sz="3200" b="1" dirty="0">
                <a:solidFill>
                  <a:srgbClr val="F3F2F1"/>
                </a:solidFill>
                <a:latin typeface="Segoe UI Semibold" pitchFamily="34" charset="0"/>
                <a:ea typeface="Segoe UI Semibold" pitchFamily="34" charset="-122"/>
                <a:cs typeface="Segoe UI Semibold" pitchFamily="34" charset="-120"/>
              </a:rPr>
              <a:t>From local folder to an analysis request</a:t>
            </a:r>
            <a:endParaRPr lang="en-US" sz="3200" dirty="0"/>
          </a:p>
        </p:txBody>
      </p:sp>
      <p:sp>
        <p:nvSpPr>
          <p:cNvPr id="4" name="Shape 2"/>
          <p:cNvSpPr/>
          <p:nvPr/>
        </p:nvSpPr>
        <p:spPr>
          <a:xfrm>
            <a:off x="548640" y="1600200"/>
            <a:ext cx="685800" cy="685800"/>
          </a:xfrm>
          <a:prstGeom prst="ellipse">
            <a:avLst/>
          </a:prstGeom>
          <a:solidFill>
            <a:srgbClr val="0078D4"/>
          </a:solidFill>
          <a:ln/>
        </p:spPr>
      </p:sp>
      <p:pic>
        <p:nvPicPr>
          <p:cNvPr id="5" name="Image 0" descr="preencoded.png">    </p:cNvPr>
          <p:cNvPicPr>
            <a:picLocks noChangeAspect="1"/>
          </p:cNvPicPr>
          <p:nvPr/>
        </p:nvPicPr>
        <p:blipFill>
          <a:blip r:embed="rId1"/>
          <a:stretch>
            <a:fillRect/>
          </a:stretch>
        </p:blipFill>
        <p:spPr>
          <a:xfrm>
            <a:off x="713232" y="1764792"/>
            <a:ext cx="356616" cy="356616"/>
          </a:xfrm>
          <a:prstGeom prst="rect">
            <a:avLst/>
          </a:prstGeom>
        </p:spPr>
      </p:pic>
      <p:sp>
        <p:nvSpPr>
          <p:cNvPr id="6" name="Text 3"/>
          <p:cNvSpPr/>
          <p:nvPr/>
        </p:nvSpPr>
        <p:spPr>
          <a:xfrm>
            <a:off x="548640" y="1399032"/>
            <a:ext cx="320040" cy="274320"/>
          </a:xfrm>
          <a:prstGeom prst="rect">
            <a:avLst/>
          </a:prstGeom>
          <a:noFill/>
          <a:ln/>
        </p:spPr>
        <p:txBody>
          <a:bodyPr wrap="square" lIns="0" tIns="0" rIns="0" bIns="0" rtlCol="0" anchor="ctr"/>
          <a:lstStyle/>
          <a:p>
            <a:pPr indent="0" marL="0">
              <a:buNone/>
            </a:pPr>
            <a:r>
              <a:rPr lang="en-US" sz="1300" b="1" dirty="0">
                <a:solidFill>
                  <a:srgbClr val="50E6FF"/>
                </a:solidFill>
                <a:latin typeface="Segoe UI Semibold" pitchFamily="34" charset="0"/>
                <a:ea typeface="Segoe UI Semibold" pitchFamily="34" charset="-122"/>
                <a:cs typeface="Segoe UI Semibold" pitchFamily="34" charset="-120"/>
              </a:rPr>
              <a:t>1</a:t>
            </a:r>
            <a:endParaRPr lang="en-US" sz="1300" dirty="0"/>
          </a:p>
        </p:txBody>
      </p:sp>
      <p:sp>
        <p:nvSpPr>
          <p:cNvPr id="7" name="Text 4"/>
          <p:cNvSpPr/>
          <p:nvPr/>
        </p:nvSpPr>
        <p:spPr>
          <a:xfrm>
            <a:off x="1463040" y="1618488"/>
            <a:ext cx="9875520" cy="365760"/>
          </a:xfrm>
          <a:prstGeom prst="rect">
            <a:avLst/>
          </a:prstGeom>
          <a:noFill/>
          <a:ln/>
        </p:spPr>
        <p:txBody>
          <a:bodyPr wrap="square" lIns="0" tIns="0" rIns="0" bIns="0" rtlCol="0" anchor="ctr"/>
          <a:lstStyle/>
          <a:p>
            <a:pPr indent="0" marL="0">
              <a:buNone/>
            </a:pPr>
            <a:r>
              <a:rPr lang="en-US" sz="1800" b="1" dirty="0">
                <a:solidFill>
                  <a:srgbClr val="F3F2F1"/>
                </a:solidFill>
                <a:latin typeface="Segoe UI Semibold" pitchFamily="34" charset="0"/>
                <a:ea typeface="Segoe UI Semibold" pitchFamily="34" charset="-122"/>
                <a:cs typeface="Segoe UI Semibold" pitchFamily="34" charset="-120"/>
              </a:rPr>
              <a:t>Upload via Power Automate</a:t>
            </a:r>
            <a:endParaRPr lang="en-US" sz="1800" dirty="0"/>
          </a:p>
        </p:txBody>
      </p:sp>
      <p:sp>
        <p:nvSpPr>
          <p:cNvPr id="8" name="Text 5"/>
          <p:cNvSpPr/>
          <p:nvPr/>
        </p:nvSpPr>
        <p:spPr>
          <a:xfrm>
            <a:off x="1463040" y="2011680"/>
            <a:ext cx="9875520" cy="640080"/>
          </a:xfrm>
          <a:prstGeom prst="rect">
            <a:avLst/>
          </a:prstGeom>
          <a:noFill/>
          <a:ln/>
        </p:spPr>
        <p:txBody>
          <a:bodyPr wrap="square" lIns="0" tIns="0" rIns="0" bIns="0" rtlCol="0" anchor="ctr"/>
          <a:lstStyle/>
          <a:p>
            <a:pPr indent="0" marL="0">
              <a:buNone/>
            </a:pPr>
            <a:r>
              <a:rPr lang="en-US" sz="1300" dirty="0">
                <a:solidFill>
                  <a:srgbClr val="C8C6C4"/>
                </a:solidFill>
                <a:latin typeface="Segoe UI" pitchFamily="34" charset="0"/>
                <a:ea typeface="Segoe UI" pitchFamily="34" charset="-122"/>
                <a:cs typeface="Segoe UI" pitchFamily="34" charset="-120"/>
              </a:rPr>
              <a:t>The presenter (or an automated flow) selects a file from a local folder; a manual-trigger cloud flow reads its content and calls Create blob (V2) into the incoming container.</a:t>
            </a:r>
            <a:endParaRPr lang="en-US" sz="1300" dirty="0"/>
          </a:p>
        </p:txBody>
      </p:sp>
      <p:sp>
        <p:nvSpPr>
          <p:cNvPr id="9" name="Shape 6"/>
          <p:cNvSpPr/>
          <p:nvPr/>
        </p:nvSpPr>
        <p:spPr>
          <a:xfrm>
            <a:off x="548640" y="3200400"/>
            <a:ext cx="685800" cy="685800"/>
          </a:xfrm>
          <a:prstGeom prst="ellipse">
            <a:avLst/>
          </a:prstGeom>
          <a:solidFill>
            <a:srgbClr val="0078D4"/>
          </a:solidFill>
          <a:ln/>
        </p:spPr>
      </p:sp>
      <p:pic>
        <p:nvPicPr>
          <p:cNvPr id="10" name="Image 1" descr="preencoded.png">    </p:cNvPr>
          <p:cNvPicPr>
            <a:picLocks noChangeAspect="1"/>
          </p:cNvPicPr>
          <p:nvPr/>
        </p:nvPicPr>
        <p:blipFill>
          <a:blip r:embed="rId2"/>
          <a:stretch>
            <a:fillRect/>
          </a:stretch>
        </p:blipFill>
        <p:spPr>
          <a:xfrm>
            <a:off x="713232" y="3364992"/>
            <a:ext cx="356616" cy="356616"/>
          </a:xfrm>
          <a:prstGeom prst="rect">
            <a:avLst/>
          </a:prstGeom>
        </p:spPr>
      </p:pic>
      <p:sp>
        <p:nvSpPr>
          <p:cNvPr id="11" name="Text 7"/>
          <p:cNvSpPr/>
          <p:nvPr/>
        </p:nvSpPr>
        <p:spPr>
          <a:xfrm>
            <a:off x="548640" y="2999232"/>
            <a:ext cx="320040" cy="274320"/>
          </a:xfrm>
          <a:prstGeom prst="rect">
            <a:avLst/>
          </a:prstGeom>
          <a:noFill/>
          <a:ln/>
        </p:spPr>
        <p:txBody>
          <a:bodyPr wrap="square" lIns="0" tIns="0" rIns="0" bIns="0" rtlCol="0" anchor="ctr"/>
          <a:lstStyle/>
          <a:p>
            <a:pPr indent="0" marL="0">
              <a:buNone/>
            </a:pPr>
            <a:r>
              <a:rPr lang="en-US" sz="1300" b="1" dirty="0">
                <a:solidFill>
                  <a:srgbClr val="50E6FF"/>
                </a:solidFill>
                <a:latin typeface="Segoe UI Semibold" pitchFamily="34" charset="0"/>
                <a:ea typeface="Segoe UI Semibold" pitchFamily="34" charset="-122"/>
                <a:cs typeface="Segoe UI Semibold" pitchFamily="34" charset="-120"/>
              </a:rPr>
              <a:t>2</a:t>
            </a:r>
            <a:endParaRPr lang="en-US" sz="1300" dirty="0"/>
          </a:p>
        </p:txBody>
      </p:sp>
      <p:sp>
        <p:nvSpPr>
          <p:cNvPr id="12" name="Text 8"/>
          <p:cNvSpPr/>
          <p:nvPr/>
        </p:nvSpPr>
        <p:spPr>
          <a:xfrm>
            <a:off x="1463040" y="3218688"/>
            <a:ext cx="9875520" cy="365760"/>
          </a:xfrm>
          <a:prstGeom prst="rect">
            <a:avLst/>
          </a:prstGeom>
          <a:noFill/>
          <a:ln/>
        </p:spPr>
        <p:txBody>
          <a:bodyPr wrap="square" lIns="0" tIns="0" rIns="0" bIns="0" rtlCol="0" anchor="ctr"/>
          <a:lstStyle/>
          <a:p>
            <a:pPr indent="0" marL="0">
              <a:buNone/>
            </a:pPr>
            <a:r>
              <a:rPr lang="en-US" sz="1800" b="1" dirty="0">
                <a:solidFill>
                  <a:srgbClr val="F3F2F1"/>
                </a:solidFill>
                <a:latin typeface="Segoe UI Semibold" pitchFamily="34" charset="0"/>
                <a:ea typeface="Segoe UI Semibold" pitchFamily="34" charset="-122"/>
                <a:cs typeface="Segoe UI Semibold" pitchFamily="34" charset="-120"/>
              </a:rPr>
              <a:t>Blob trigger fires</a:t>
            </a:r>
            <a:endParaRPr lang="en-US" sz="1800" dirty="0"/>
          </a:p>
        </p:txBody>
      </p:sp>
      <p:sp>
        <p:nvSpPr>
          <p:cNvPr id="13" name="Text 9"/>
          <p:cNvSpPr/>
          <p:nvPr/>
        </p:nvSpPr>
        <p:spPr>
          <a:xfrm>
            <a:off x="1463040" y="3611880"/>
            <a:ext cx="9875520" cy="640080"/>
          </a:xfrm>
          <a:prstGeom prst="rect">
            <a:avLst/>
          </a:prstGeom>
          <a:noFill/>
          <a:ln/>
        </p:spPr>
        <p:txBody>
          <a:bodyPr wrap="square" lIns="0" tIns="0" rIns="0" bIns="0" rtlCol="0" anchor="ctr"/>
          <a:lstStyle/>
          <a:p>
            <a:pPr indent="0" marL="0">
              <a:buNone/>
            </a:pPr>
            <a:r>
              <a:rPr lang="en-US" sz="1300" dirty="0">
                <a:solidFill>
                  <a:srgbClr val="C8C6C4"/>
                </a:solidFill>
                <a:latin typeface="Segoe UI" pitchFamily="34" charset="0"/>
                <a:ea typeface="Segoe UI" pitchFamily="34" charset="-122"/>
                <a:cs typeface="Segoe UI" pitchFamily="34" charset="-120"/>
              </a:rPr>
              <a:t>The Logic App's built-in Azure Blob Storage trigger detects the new file, reads its content, and generates a short-lived (30-minute) read-only SAS URL for it.</a:t>
            </a:r>
            <a:endParaRPr lang="en-US" sz="1300" dirty="0"/>
          </a:p>
        </p:txBody>
      </p:sp>
      <p:sp>
        <p:nvSpPr>
          <p:cNvPr id="14" name="Shape 10"/>
          <p:cNvSpPr/>
          <p:nvPr/>
        </p:nvSpPr>
        <p:spPr>
          <a:xfrm>
            <a:off x="548640" y="4800600"/>
            <a:ext cx="685800" cy="685800"/>
          </a:xfrm>
          <a:prstGeom prst="ellipse">
            <a:avLst/>
          </a:prstGeom>
          <a:solidFill>
            <a:srgbClr val="0078D4"/>
          </a:solidFill>
          <a:ln/>
        </p:spPr>
      </p:sp>
      <p:pic>
        <p:nvPicPr>
          <p:cNvPr id="15" name="Image 2" descr="preencoded.png">    </p:cNvPr>
          <p:cNvPicPr>
            <a:picLocks noChangeAspect="1"/>
          </p:cNvPicPr>
          <p:nvPr/>
        </p:nvPicPr>
        <p:blipFill>
          <a:blip r:embed="rId3"/>
          <a:stretch>
            <a:fillRect/>
          </a:stretch>
        </p:blipFill>
        <p:spPr>
          <a:xfrm>
            <a:off x="713232" y="4965192"/>
            <a:ext cx="356616" cy="356616"/>
          </a:xfrm>
          <a:prstGeom prst="rect">
            <a:avLst/>
          </a:prstGeom>
        </p:spPr>
      </p:pic>
      <p:sp>
        <p:nvSpPr>
          <p:cNvPr id="16" name="Text 11"/>
          <p:cNvSpPr/>
          <p:nvPr/>
        </p:nvSpPr>
        <p:spPr>
          <a:xfrm>
            <a:off x="548640" y="4599432"/>
            <a:ext cx="320040" cy="274320"/>
          </a:xfrm>
          <a:prstGeom prst="rect">
            <a:avLst/>
          </a:prstGeom>
          <a:noFill/>
          <a:ln/>
        </p:spPr>
        <p:txBody>
          <a:bodyPr wrap="square" lIns="0" tIns="0" rIns="0" bIns="0" rtlCol="0" anchor="ctr"/>
          <a:lstStyle/>
          <a:p>
            <a:pPr indent="0" marL="0">
              <a:buNone/>
            </a:pPr>
            <a:r>
              <a:rPr lang="en-US" sz="1300" b="1" dirty="0">
                <a:solidFill>
                  <a:srgbClr val="50E6FF"/>
                </a:solidFill>
                <a:latin typeface="Segoe UI Semibold" pitchFamily="34" charset="0"/>
                <a:ea typeface="Segoe UI Semibold" pitchFamily="34" charset="-122"/>
                <a:cs typeface="Segoe UI Semibold" pitchFamily="34" charset="-120"/>
              </a:rPr>
              <a:t>3</a:t>
            </a:r>
            <a:endParaRPr lang="en-US" sz="1300" dirty="0"/>
          </a:p>
        </p:txBody>
      </p:sp>
      <p:sp>
        <p:nvSpPr>
          <p:cNvPr id="17" name="Text 12"/>
          <p:cNvSpPr/>
          <p:nvPr/>
        </p:nvSpPr>
        <p:spPr>
          <a:xfrm>
            <a:off x="1463040" y="4818888"/>
            <a:ext cx="9875520" cy="365760"/>
          </a:xfrm>
          <a:prstGeom prst="rect">
            <a:avLst/>
          </a:prstGeom>
          <a:noFill/>
          <a:ln/>
        </p:spPr>
        <p:txBody>
          <a:bodyPr wrap="square" lIns="0" tIns="0" rIns="0" bIns="0" rtlCol="0" anchor="ctr"/>
          <a:lstStyle/>
          <a:p>
            <a:pPr indent="0" marL="0">
              <a:buNone/>
            </a:pPr>
            <a:r>
              <a:rPr lang="en-US" sz="1800" b="1" dirty="0">
                <a:solidFill>
                  <a:srgbClr val="F3F2F1"/>
                </a:solidFill>
                <a:latin typeface="Segoe UI Semibold" pitchFamily="34" charset="0"/>
                <a:ea typeface="Segoe UI Semibold" pitchFamily="34" charset="-122"/>
                <a:cs typeface="Segoe UI Semibold" pitchFamily="34" charset="-120"/>
              </a:rPr>
              <a:t>Analyze request sent</a:t>
            </a:r>
            <a:endParaRPr lang="en-US" sz="1800" dirty="0"/>
          </a:p>
        </p:txBody>
      </p:sp>
      <p:sp>
        <p:nvSpPr>
          <p:cNvPr id="18" name="Text 13"/>
          <p:cNvSpPr/>
          <p:nvPr/>
        </p:nvSpPr>
        <p:spPr>
          <a:xfrm>
            <a:off x="1463040" y="5212080"/>
            <a:ext cx="9875520" cy="640080"/>
          </a:xfrm>
          <a:prstGeom prst="rect">
            <a:avLst/>
          </a:prstGeom>
          <a:noFill/>
          <a:ln/>
        </p:spPr>
        <p:txBody>
          <a:bodyPr wrap="square" lIns="0" tIns="0" rIns="0" bIns="0" rtlCol="0" anchor="ctr"/>
          <a:lstStyle/>
          <a:p>
            <a:pPr indent="0" marL="0">
              <a:buNone/>
            </a:pPr>
            <a:r>
              <a:rPr lang="en-US" sz="1300" dirty="0">
                <a:solidFill>
                  <a:srgbClr val="C8C6C4"/>
                </a:solidFill>
                <a:latin typeface="Segoe UI" pitchFamily="34" charset="0"/>
                <a:ea typeface="Segoe UI" pitchFamily="34" charset="-122"/>
                <a:cs typeface="Segoe UI" pitchFamily="34" charset="-120"/>
              </a:rPr>
              <a:t>The Logic App POSTs the SAS URL to the custom fax-document-analyzer, authenticating with its own system-assigned managed identity — no API keys stored anywhere.</a:t>
            </a:r>
            <a:endParaRPr lang="en-US" sz="1300" dirty="0"/>
          </a:p>
        </p:txBody>
      </p:sp>
      <p:sp>
        <p:nvSpPr>
          <p:cNvPr id="19" name="Text 14"/>
          <p:cNvSpPr/>
          <p:nvPr/>
        </p:nvSpPr>
        <p:spPr>
          <a:xfrm>
            <a:off x="457200" y="6419088"/>
            <a:ext cx="7315200" cy="274320"/>
          </a:xfrm>
          <a:prstGeom prst="rect">
            <a:avLst/>
          </a:prstGeom>
          <a:noFill/>
          <a:ln/>
        </p:spPr>
        <p:txBody>
          <a:bodyPr wrap="square" lIns="0" tIns="0" rIns="0" bIns="0" rtlCol="0" anchor="ctr"/>
          <a:lstStyle/>
          <a:p>
            <a:pPr indent="0" marL="0">
              <a:buNone/>
            </a:pPr>
            <a:r>
              <a:rPr lang="en-US" sz="900" dirty="0">
                <a:solidFill>
                  <a:srgbClr val="8A8886"/>
                </a:solidFill>
                <a:latin typeface="Segoe UI" pitchFamily="34" charset="0"/>
                <a:ea typeface="Segoe UI" pitchFamily="34" charset="-122"/>
                <a:cs typeface="Segoe UI" pitchFamily="34" charset="-120"/>
              </a:rPr>
              <a:t>Fax Ingest &amp; Extraction with Azure Content Understanding</a:t>
            </a:r>
            <a:endParaRPr lang="en-US" sz="900" dirty="0"/>
          </a:p>
        </p:txBody>
      </p:sp>
      <p:sp>
        <p:nvSpPr>
          <p:cNvPr id="20" name="Text 15"/>
          <p:cNvSpPr/>
          <p:nvPr/>
        </p:nvSpPr>
        <p:spPr>
          <a:xfrm>
            <a:off x="11247120" y="6419088"/>
            <a:ext cx="457200" cy="274320"/>
          </a:xfrm>
          <a:prstGeom prst="rect">
            <a:avLst/>
          </a:prstGeom>
          <a:noFill/>
          <a:ln/>
        </p:spPr>
        <p:txBody>
          <a:bodyPr wrap="square" lIns="0" tIns="0" rIns="0" bIns="0" rtlCol="0" anchor="ctr"/>
          <a:lstStyle/>
          <a:p>
            <a:pPr algn="r" indent="0" marL="0">
              <a:buNone/>
            </a:pPr>
            <a:r>
              <a:rPr lang="en-US" sz="900" dirty="0">
                <a:solidFill>
                  <a:srgbClr val="8A8886"/>
                </a:solidFill>
                <a:latin typeface="Segoe UI" pitchFamily="34" charset="0"/>
                <a:ea typeface="Segoe UI" pitchFamily="34" charset="-122"/>
                <a:cs typeface="Segoe U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1A19"/>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50E6FF"/>
                </a:solidFill>
                <a:latin typeface="Segoe UI" pitchFamily="34" charset="0"/>
                <a:ea typeface="Segoe UI" pitchFamily="34" charset="-122"/>
                <a:cs typeface="Segoe UI" pitchFamily="34" charset="-120"/>
              </a:rPr>
              <a:t>THE FLOW — PART 2</a:t>
            </a:r>
            <a:endParaRPr lang="en-US" sz="1300" dirty="0"/>
          </a:p>
        </p:txBody>
      </p:sp>
      <p:sp>
        <p:nvSpPr>
          <p:cNvPr id="3" name="Text 1"/>
          <p:cNvSpPr/>
          <p:nvPr/>
        </p:nvSpPr>
        <p:spPr>
          <a:xfrm>
            <a:off x="548640" y="658368"/>
            <a:ext cx="10515600" cy="777240"/>
          </a:xfrm>
          <a:prstGeom prst="rect">
            <a:avLst/>
          </a:prstGeom>
          <a:noFill/>
          <a:ln/>
        </p:spPr>
        <p:txBody>
          <a:bodyPr wrap="square" lIns="0" tIns="0" rIns="0" bIns="0" rtlCol="0" anchor="ctr"/>
          <a:lstStyle/>
          <a:p>
            <a:pPr indent="0" marL="0">
              <a:buNone/>
            </a:pPr>
            <a:r>
              <a:rPr lang="en-US" sz="3200" b="1" dirty="0">
                <a:solidFill>
                  <a:srgbClr val="F3F2F1"/>
                </a:solidFill>
                <a:latin typeface="Segoe UI Semibold" pitchFamily="34" charset="0"/>
                <a:ea typeface="Segoe UI Semibold" pitchFamily="34" charset="-122"/>
                <a:cs typeface="Segoe UI Semibold" pitchFamily="34" charset="-120"/>
              </a:rPr>
              <a:t>Asynchronous processing &amp; structured output</a:t>
            </a:r>
            <a:endParaRPr lang="en-US" sz="3200" dirty="0"/>
          </a:p>
        </p:txBody>
      </p:sp>
      <p:sp>
        <p:nvSpPr>
          <p:cNvPr id="4" name="Shape 2"/>
          <p:cNvSpPr/>
          <p:nvPr/>
        </p:nvSpPr>
        <p:spPr>
          <a:xfrm>
            <a:off x="548640" y="1600200"/>
            <a:ext cx="5029200" cy="4206240"/>
          </a:xfrm>
          <a:prstGeom prst="roundRect">
            <a:avLst>
              <a:gd name="adj" fmla="val 1304"/>
            </a:avLst>
          </a:prstGeom>
          <a:solidFill>
            <a:srgbClr val="252423"/>
          </a:solidFill>
          <a:ln w="12700">
            <a:solidFill>
              <a:srgbClr val="3B3A39"/>
            </a:solidFill>
            <a:prstDash val="solid"/>
          </a:ln>
        </p:spPr>
      </p:sp>
      <p:sp>
        <p:nvSpPr>
          <p:cNvPr id="5" name="Text 3"/>
          <p:cNvSpPr/>
          <p:nvPr/>
        </p:nvSpPr>
        <p:spPr>
          <a:xfrm>
            <a:off x="822960" y="1783080"/>
            <a:ext cx="4480560" cy="365760"/>
          </a:xfrm>
          <a:prstGeom prst="rect">
            <a:avLst/>
          </a:prstGeom>
          <a:noFill/>
          <a:ln/>
        </p:spPr>
        <p:txBody>
          <a:bodyPr wrap="square" lIns="0" tIns="0" rIns="0" bIns="0" rtlCol="0" anchor="ctr"/>
          <a:lstStyle/>
          <a:p>
            <a:pPr indent="0" marL="0">
              <a:buNone/>
            </a:pPr>
            <a:r>
              <a:rPr lang="en-US" sz="1600" b="1" dirty="0">
                <a:solidFill>
                  <a:srgbClr val="F3F2F1"/>
                </a:solidFill>
                <a:latin typeface="Segoe UI Semibold" pitchFamily="34" charset="0"/>
                <a:ea typeface="Segoe UI Semibold" pitchFamily="34" charset="-122"/>
                <a:cs typeface="Segoe UI Semibold" pitchFamily="34" charset="-120"/>
              </a:rPr>
              <a:t>The poll loop</a:t>
            </a:r>
            <a:endParaRPr lang="en-US" sz="1600" dirty="0"/>
          </a:p>
        </p:txBody>
      </p:sp>
      <p:sp>
        <p:nvSpPr>
          <p:cNvPr id="6" name="Shape 4"/>
          <p:cNvSpPr/>
          <p:nvPr/>
        </p:nvSpPr>
        <p:spPr>
          <a:xfrm>
            <a:off x="822960" y="2286000"/>
            <a:ext cx="347472" cy="347472"/>
          </a:xfrm>
          <a:prstGeom prst="ellipse">
            <a:avLst/>
          </a:prstGeom>
          <a:solidFill>
            <a:srgbClr val="2A2928"/>
          </a:solidFill>
          <a:ln/>
        </p:spPr>
      </p:sp>
      <p:pic>
        <p:nvPicPr>
          <p:cNvPr id="7" name="Image 0" descr="preencoded.png">    </p:cNvPr>
          <p:cNvPicPr>
            <a:picLocks noChangeAspect="1"/>
          </p:cNvPicPr>
          <p:nvPr/>
        </p:nvPicPr>
        <p:blipFill>
          <a:blip r:embed="rId1"/>
          <a:stretch>
            <a:fillRect/>
          </a:stretch>
        </p:blipFill>
        <p:spPr>
          <a:xfrm>
            <a:off x="906353" y="2369393"/>
            <a:ext cx="180685" cy="180685"/>
          </a:xfrm>
          <a:prstGeom prst="rect">
            <a:avLst/>
          </a:prstGeom>
        </p:spPr>
      </p:pic>
      <p:sp>
        <p:nvSpPr>
          <p:cNvPr id="8" name="Text 5"/>
          <p:cNvSpPr/>
          <p:nvPr/>
        </p:nvSpPr>
        <p:spPr>
          <a:xfrm>
            <a:off x="1325880" y="2267712"/>
            <a:ext cx="3977640" cy="685800"/>
          </a:xfrm>
          <a:prstGeom prst="rect">
            <a:avLst/>
          </a:prstGeom>
          <a:noFill/>
          <a:ln/>
        </p:spPr>
        <p:txBody>
          <a:bodyPr wrap="square" lIns="0" tIns="0" rIns="0" bIns="0" rtlCol="0" anchor="ctr"/>
          <a:lstStyle/>
          <a:p>
            <a:pPr indent="0" marL="0">
              <a:buNone/>
            </a:pPr>
            <a:r>
              <a:rPr lang="en-US" sz="1150" dirty="0">
                <a:solidFill>
                  <a:srgbClr val="C8C6C4"/>
                </a:solidFill>
                <a:latin typeface="Segoe UI" pitchFamily="34" charset="0"/>
                <a:ea typeface="Segoe UI" pitchFamily="34" charset="-122"/>
                <a:cs typeface="Segoe UI" pitchFamily="34" charset="-120"/>
              </a:rPr>
              <a:t>Content Understanding returns 202 Accepted + an Operation-Location URL</a:t>
            </a:r>
            <a:endParaRPr lang="en-US" sz="1150" dirty="0"/>
          </a:p>
        </p:txBody>
      </p:sp>
      <p:sp>
        <p:nvSpPr>
          <p:cNvPr id="9" name="Shape 6"/>
          <p:cNvSpPr/>
          <p:nvPr/>
        </p:nvSpPr>
        <p:spPr>
          <a:xfrm>
            <a:off x="822960" y="3127248"/>
            <a:ext cx="347472" cy="347472"/>
          </a:xfrm>
          <a:prstGeom prst="ellipse">
            <a:avLst/>
          </a:prstGeom>
          <a:solidFill>
            <a:srgbClr val="2A2928"/>
          </a:solidFill>
          <a:ln/>
        </p:spPr>
      </p:sp>
      <p:pic>
        <p:nvPicPr>
          <p:cNvPr id="10" name="Image 1" descr="preencoded.png">    </p:cNvPr>
          <p:cNvPicPr>
            <a:picLocks noChangeAspect="1"/>
          </p:cNvPicPr>
          <p:nvPr/>
        </p:nvPicPr>
        <p:blipFill>
          <a:blip r:embed="rId2"/>
          <a:stretch>
            <a:fillRect/>
          </a:stretch>
        </p:blipFill>
        <p:spPr>
          <a:xfrm>
            <a:off x="906353" y="3210641"/>
            <a:ext cx="180685" cy="180685"/>
          </a:xfrm>
          <a:prstGeom prst="rect">
            <a:avLst/>
          </a:prstGeom>
        </p:spPr>
      </p:pic>
      <p:sp>
        <p:nvSpPr>
          <p:cNvPr id="11" name="Text 7"/>
          <p:cNvSpPr/>
          <p:nvPr/>
        </p:nvSpPr>
        <p:spPr>
          <a:xfrm>
            <a:off x="1325880" y="3108960"/>
            <a:ext cx="3977640" cy="685800"/>
          </a:xfrm>
          <a:prstGeom prst="rect">
            <a:avLst/>
          </a:prstGeom>
          <a:noFill/>
          <a:ln/>
        </p:spPr>
        <p:txBody>
          <a:bodyPr wrap="square" lIns="0" tIns="0" rIns="0" bIns="0" rtlCol="0" anchor="ctr"/>
          <a:lstStyle/>
          <a:p>
            <a:pPr indent="0" marL="0">
              <a:buNone/>
            </a:pPr>
            <a:r>
              <a:rPr lang="en-US" sz="1150" dirty="0">
                <a:solidFill>
                  <a:srgbClr val="C8C6C4"/>
                </a:solidFill>
                <a:latin typeface="Segoe UI" pitchFamily="34" charset="0"/>
                <a:ea typeface="Segoe UI" pitchFamily="34" charset="-122"/>
                <a:cs typeface="Segoe UI" pitchFamily="34" charset="-120"/>
              </a:rPr>
              <a:t>Logic App loops: wait 3s → GET Operation-Location → check status</a:t>
            </a:r>
            <a:endParaRPr lang="en-US" sz="1150" dirty="0"/>
          </a:p>
        </p:txBody>
      </p:sp>
      <p:sp>
        <p:nvSpPr>
          <p:cNvPr id="12" name="Shape 8"/>
          <p:cNvSpPr/>
          <p:nvPr/>
        </p:nvSpPr>
        <p:spPr>
          <a:xfrm>
            <a:off x="822960" y="3968496"/>
            <a:ext cx="347472" cy="347472"/>
          </a:xfrm>
          <a:prstGeom prst="ellipse">
            <a:avLst/>
          </a:prstGeom>
          <a:solidFill>
            <a:srgbClr val="2A2928"/>
          </a:solidFill>
          <a:ln/>
        </p:spPr>
      </p:sp>
      <p:pic>
        <p:nvPicPr>
          <p:cNvPr id="13" name="Image 2" descr="preencoded.png">    </p:cNvPr>
          <p:cNvPicPr>
            <a:picLocks noChangeAspect="1"/>
          </p:cNvPicPr>
          <p:nvPr/>
        </p:nvPicPr>
        <p:blipFill>
          <a:blip r:embed="rId3"/>
          <a:stretch>
            <a:fillRect/>
          </a:stretch>
        </p:blipFill>
        <p:spPr>
          <a:xfrm>
            <a:off x="906353" y="4051889"/>
            <a:ext cx="180685" cy="180685"/>
          </a:xfrm>
          <a:prstGeom prst="rect">
            <a:avLst/>
          </a:prstGeom>
        </p:spPr>
      </p:pic>
      <p:sp>
        <p:nvSpPr>
          <p:cNvPr id="14" name="Text 9"/>
          <p:cNvSpPr/>
          <p:nvPr/>
        </p:nvSpPr>
        <p:spPr>
          <a:xfrm>
            <a:off x="1325880" y="3950208"/>
            <a:ext cx="3977640" cy="685800"/>
          </a:xfrm>
          <a:prstGeom prst="rect">
            <a:avLst/>
          </a:prstGeom>
          <a:noFill/>
          <a:ln/>
        </p:spPr>
        <p:txBody>
          <a:bodyPr wrap="square" lIns="0" tIns="0" rIns="0" bIns="0" rtlCol="0" anchor="ctr"/>
          <a:lstStyle/>
          <a:p>
            <a:pPr indent="0" marL="0">
              <a:buNone/>
            </a:pPr>
            <a:r>
              <a:rPr lang="en-US" sz="1150" dirty="0">
                <a:solidFill>
                  <a:srgbClr val="C8C6C4"/>
                </a:solidFill>
                <a:latin typeface="Segoe UI" pitchFamily="34" charset="0"/>
                <a:ea typeface="Segoe UI" pitchFamily="34" charset="-122"/>
                <a:cs typeface="Segoe UI" pitchFamily="34" charset="-120"/>
              </a:rPr>
              <a:t>Loop continues until status is Succeeded or Failed (up to 5 minutes)</a:t>
            </a:r>
            <a:endParaRPr lang="en-US" sz="1150" dirty="0"/>
          </a:p>
        </p:txBody>
      </p:sp>
      <p:sp>
        <p:nvSpPr>
          <p:cNvPr id="15" name="Shape 10"/>
          <p:cNvSpPr/>
          <p:nvPr/>
        </p:nvSpPr>
        <p:spPr>
          <a:xfrm>
            <a:off x="822960" y="4809744"/>
            <a:ext cx="347472" cy="347472"/>
          </a:xfrm>
          <a:prstGeom prst="ellipse">
            <a:avLst/>
          </a:prstGeom>
          <a:solidFill>
            <a:srgbClr val="2A2928"/>
          </a:solidFill>
          <a:ln/>
        </p:spPr>
      </p:sp>
      <p:pic>
        <p:nvPicPr>
          <p:cNvPr id="16" name="Image 3" descr="preencoded.png">    </p:cNvPr>
          <p:cNvPicPr>
            <a:picLocks noChangeAspect="1"/>
          </p:cNvPicPr>
          <p:nvPr/>
        </p:nvPicPr>
        <p:blipFill>
          <a:blip r:embed="rId4"/>
          <a:stretch>
            <a:fillRect/>
          </a:stretch>
        </p:blipFill>
        <p:spPr>
          <a:xfrm>
            <a:off x="906353" y="4893137"/>
            <a:ext cx="180685" cy="180685"/>
          </a:xfrm>
          <a:prstGeom prst="rect">
            <a:avLst/>
          </a:prstGeom>
        </p:spPr>
      </p:pic>
      <p:sp>
        <p:nvSpPr>
          <p:cNvPr id="17" name="Text 11"/>
          <p:cNvSpPr/>
          <p:nvPr/>
        </p:nvSpPr>
        <p:spPr>
          <a:xfrm>
            <a:off x="1325880" y="4791456"/>
            <a:ext cx="3977640" cy="685800"/>
          </a:xfrm>
          <a:prstGeom prst="rect">
            <a:avLst/>
          </a:prstGeom>
          <a:noFill/>
          <a:ln/>
        </p:spPr>
        <p:txBody>
          <a:bodyPr wrap="square" lIns="0" tIns="0" rIns="0" bIns="0" rtlCol="0" anchor="ctr"/>
          <a:lstStyle/>
          <a:p>
            <a:pPr indent="0" marL="0">
              <a:buNone/>
            </a:pPr>
            <a:r>
              <a:rPr lang="en-US" sz="1150" dirty="0">
                <a:solidFill>
                  <a:srgbClr val="C8C6C4"/>
                </a:solidFill>
                <a:latin typeface="Segoe UI" pitchFamily="34" charset="0"/>
                <a:ea typeface="Segoe UI" pitchFamily="34" charset="-122"/>
                <a:cs typeface="Segoe UI" pitchFamily="34" charset="-120"/>
              </a:rPr>
              <a:t>This async pattern lets long-running analysis (multi-page documents) complete without holding open a connection</a:t>
            </a:r>
            <a:endParaRPr lang="en-US" sz="1150" dirty="0"/>
          </a:p>
        </p:txBody>
      </p:sp>
      <p:sp>
        <p:nvSpPr>
          <p:cNvPr id="18" name="Shape 12"/>
          <p:cNvSpPr/>
          <p:nvPr/>
        </p:nvSpPr>
        <p:spPr>
          <a:xfrm>
            <a:off x="5852160" y="1600200"/>
            <a:ext cx="5760720" cy="4206240"/>
          </a:xfrm>
          <a:prstGeom prst="roundRect">
            <a:avLst>
              <a:gd name="adj" fmla="val 1304"/>
            </a:avLst>
          </a:prstGeom>
          <a:solidFill>
            <a:srgbClr val="0C0C0C"/>
          </a:solidFill>
          <a:ln w="12700">
            <a:solidFill>
              <a:srgbClr val="3B3A39"/>
            </a:solidFill>
            <a:prstDash val="solid"/>
          </a:ln>
        </p:spPr>
      </p:sp>
      <p:sp>
        <p:nvSpPr>
          <p:cNvPr id="19" name="Text 13"/>
          <p:cNvSpPr/>
          <p:nvPr/>
        </p:nvSpPr>
        <p:spPr>
          <a:xfrm>
            <a:off x="6126480" y="1783080"/>
            <a:ext cx="5212080" cy="365760"/>
          </a:xfrm>
          <a:prstGeom prst="rect">
            <a:avLst/>
          </a:prstGeom>
          <a:noFill/>
          <a:ln/>
        </p:spPr>
        <p:txBody>
          <a:bodyPr wrap="square" lIns="0" tIns="0" rIns="0" bIns="0" rtlCol="0" anchor="ctr"/>
          <a:lstStyle/>
          <a:p>
            <a:pPr indent="0" marL="0">
              <a:buNone/>
            </a:pPr>
            <a:r>
              <a:rPr lang="en-US" sz="1600" b="1" dirty="0">
                <a:solidFill>
                  <a:srgbClr val="F3F2F1"/>
                </a:solidFill>
                <a:latin typeface="Segoe UI Semibold" pitchFamily="34" charset="0"/>
                <a:ea typeface="Segoe UI Semibold" pitchFamily="34" charset="-122"/>
                <a:cs typeface="Segoe UI Semibold" pitchFamily="34" charset="-120"/>
              </a:rPr>
              <a:t>Sample result written to processed/</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126480" y="2286000"/>
          <a:ext cx="5212080" cy="914400"/>
        </p:xfrm>
        <a:graphic>
          <a:graphicData uri="http://schemas.openxmlformats.org/drawingml/2006/table">
            <a:tbl>
              <a:tblPr/>
              <a:tblGrid>
                <a:gridCol w="1737360"/>
                <a:gridCol w="2377440"/>
                <a:gridCol w="1097280"/>
              </a:tblGrid>
              <a:tr h="502920">
                <a:tc>
                  <a:txBody>
                    <a:bodyPr/>
                    <a:lstStyle/>
                    <a:p>
                      <a:pPr indent="0" marL="0">
                        <a:buNone/>
                      </a:pPr>
                      <a:r>
                        <a:rPr lang="en-US" sz="1100" b="1" dirty="0">
                          <a:solidFill>
                            <a:srgbClr val="50E6FF"/>
                          </a:solidFill>
                          <a:latin typeface="Segoe UI" pitchFamily="34" charset="0"/>
                          <a:ea typeface="Segoe UI" pitchFamily="34" charset="-122"/>
                          <a:cs typeface="Segoe UI" pitchFamily="34" charset="-120"/>
                        </a:rPr>
                        <a:t>Field</a:t>
                      </a:r>
                      <a:endParaRPr lang="en-US" sz="1100" dirty="0">
                        <a:latin typeface="Segoe UI" charset="0"/>
                        <a:ea typeface="Segoe UI" charset="0"/>
                        <a:cs typeface="Segoe UI" charset="0"/>
                      </a:endParaRPr>
                    </a:p>
                  </a:txBody>
                  <a:tcPr marL="91440" marR="91440" marT="45720" marB="45720" anchor="ctr">
                    <a:lnL w="6350" cap="flat" cmpd="sng" algn="ctr">
                      <a:solidFill>
                        <a:srgbClr val="3B3A39"/>
                      </a:solidFill>
                      <a:prstDash val="solid"/>
                      <a:round/>
                      <a:headEnd type="none" w="med" len="med"/>
                      <a:tailEnd type="none" w="med" len="med"/>
                    </a:lnL>
                    <a:lnR w="6350" cap="flat" cmpd="sng" algn="ctr">
                      <a:solidFill>
                        <a:srgbClr val="3B3A39"/>
                      </a:solidFill>
                      <a:prstDash val="solid"/>
                      <a:round/>
                      <a:headEnd type="none" w="med" len="med"/>
                      <a:tailEnd type="none" w="med" len="med"/>
                    </a:lnR>
                    <a:lnT w="6350" cap="flat" cmpd="sng" algn="ctr">
                      <a:solidFill>
                        <a:srgbClr val="3B3A39"/>
                      </a:solidFill>
                      <a:prstDash val="solid"/>
                      <a:round/>
                      <a:headEnd type="none" w="med" len="med"/>
                      <a:tailEnd type="none" w="med" len="med"/>
                    </a:lnT>
                    <a:lnB w="6350" cap="flat" cmpd="sng" algn="ctr">
                      <a:solidFill>
                        <a:srgbClr val="3B3A39"/>
                      </a:solidFill>
                      <a:prstDash val="solid"/>
                      <a:round/>
                      <a:headEnd type="none" w="med" len="med"/>
                      <a:tailEnd type="none" w="med" len="med"/>
                    </a:lnB>
                    <a:solidFill>
                      <a:srgbClr val="1F1F1F"/>
                    </a:solidFill>
                  </a:tcPr>
                </a:tc>
                <a:tc>
                  <a:txBody>
                    <a:bodyPr/>
                    <a:lstStyle/>
                    <a:p>
                      <a:pPr indent="0" marL="0">
                        <a:buNone/>
                      </a:pPr>
                      <a:r>
                        <a:rPr lang="en-US" sz="1100" b="1" dirty="0">
                          <a:solidFill>
                            <a:srgbClr val="50E6FF"/>
                          </a:solidFill>
                          <a:latin typeface="Segoe UI" pitchFamily="34" charset="0"/>
                          <a:ea typeface="Segoe UI" pitchFamily="34" charset="-122"/>
                          <a:cs typeface="Segoe UI" pitchFamily="34" charset="-120"/>
                        </a:rPr>
                        <a:t>Extracted value</a:t>
                      </a:r>
                      <a:endParaRPr lang="en-US" sz="1100" dirty="0">
                        <a:latin typeface="Segoe UI" charset="0"/>
                        <a:ea typeface="Segoe UI" charset="0"/>
                        <a:cs typeface="Segoe UI" charset="0"/>
                      </a:endParaRPr>
                    </a:p>
                  </a:txBody>
                  <a:tcPr marL="91440" marR="91440" marT="45720" marB="45720" anchor="ctr">
                    <a:lnL w="6350" cap="flat" cmpd="sng" algn="ctr">
                      <a:solidFill>
                        <a:srgbClr val="3B3A39"/>
                      </a:solidFill>
                      <a:prstDash val="solid"/>
                      <a:round/>
                      <a:headEnd type="none" w="med" len="med"/>
                      <a:tailEnd type="none" w="med" len="med"/>
                    </a:lnL>
                    <a:lnR w="6350" cap="flat" cmpd="sng" algn="ctr">
                      <a:solidFill>
                        <a:srgbClr val="3B3A39"/>
                      </a:solidFill>
                      <a:prstDash val="solid"/>
                      <a:round/>
                      <a:headEnd type="none" w="med" len="med"/>
                      <a:tailEnd type="none" w="med" len="med"/>
                    </a:lnR>
                    <a:lnT w="6350" cap="flat" cmpd="sng" algn="ctr">
                      <a:solidFill>
                        <a:srgbClr val="3B3A39"/>
                      </a:solidFill>
                      <a:prstDash val="solid"/>
                      <a:round/>
                      <a:headEnd type="none" w="med" len="med"/>
                      <a:tailEnd type="none" w="med" len="med"/>
                    </a:lnT>
                    <a:lnB w="6350" cap="flat" cmpd="sng" algn="ctr">
                      <a:solidFill>
                        <a:srgbClr val="3B3A39"/>
                      </a:solidFill>
                      <a:prstDash val="solid"/>
                      <a:round/>
                      <a:headEnd type="none" w="med" len="med"/>
                      <a:tailEnd type="none" w="med" len="med"/>
                    </a:lnB>
                    <a:solidFill>
                      <a:srgbClr val="1F1F1F"/>
                    </a:solidFill>
                  </a:tcPr>
                </a:tc>
                <a:tc>
                  <a:txBody>
                    <a:bodyPr/>
                    <a:lstStyle/>
                    <a:p>
                      <a:pPr indent="0" marL="0">
                        <a:buNone/>
                      </a:pPr>
                      <a:r>
                        <a:rPr lang="en-US" sz="1100" b="1" dirty="0">
                          <a:solidFill>
                            <a:srgbClr val="50E6FF"/>
                          </a:solidFill>
                          <a:latin typeface="Segoe UI" pitchFamily="34" charset="0"/>
                          <a:ea typeface="Segoe UI" pitchFamily="34" charset="-122"/>
                          <a:cs typeface="Segoe UI" pitchFamily="34" charset="-120"/>
                        </a:rPr>
                        <a:t>Confidence</a:t>
                      </a:r>
                      <a:endParaRPr lang="en-US" sz="1100" dirty="0">
                        <a:latin typeface="Segoe UI" charset="0"/>
                        <a:ea typeface="Segoe UI" charset="0"/>
                        <a:cs typeface="Segoe UI" charset="0"/>
                      </a:endParaRPr>
                    </a:p>
                  </a:txBody>
                  <a:tcPr marL="91440" marR="91440" marT="45720" marB="45720" anchor="ctr">
                    <a:lnL w="6350" cap="flat" cmpd="sng" algn="ctr">
                      <a:solidFill>
                        <a:srgbClr val="3B3A39"/>
                      </a:solidFill>
                      <a:prstDash val="solid"/>
                      <a:round/>
                      <a:headEnd type="none" w="med" len="med"/>
                      <a:tailEnd type="none" w="med" len="med"/>
                    </a:lnL>
                    <a:lnR w="6350" cap="flat" cmpd="sng" algn="ctr">
                      <a:solidFill>
                        <a:srgbClr val="3B3A39"/>
                      </a:solidFill>
                      <a:prstDash val="solid"/>
                      <a:round/>
                      <a:headEnd type="none" w="med" len="med"/>
                      <a:tailEnd type="none" w="med" len="med"/>
                    </a:lnR>
                    <a:lnT w="6350" cap="flat" cmpd="sng" algn="ctr">
                      <a:solidFill>
                        <a:srgbClr val="3B3A39"/>
                      </a:solidFill>
                      <a:prstDash val="solid"/>
                      <a:round/>
                      <a:headEnd type="none" w="med" len="med"/>
                      <a:tailEnd type="none" w="med" len="med"/>
                    </a:lnT>
                    <a:lnB w="6350" cap="flat" cmpd="sng" algn="ctr">
                      <a:solidFill>
                        <a:srgbClr val="3B3A39"/>
                      </a:solidFill>
                      <a:prstDash val="solid"/>
                      <a:round/>
                      <a:headEnd type="none" w="med" len="med"/>
                      <a:tailEnd type="none" w="med" len="med"/>
                    </a:lnB>
                    <a:solidFill>
                      <a:srgbClr val="1F1F1F"/>
                    </a:solidFill>
                  </a:tcPr>
                </a:tc>
              </a:tr>
              <a:tr h="502920">
                <a:tc>
                  <a:txBody>
                    <a:bodyPr/>
                    <a:lstStyle/>
                    <a:p>
                      <a:pPr indent="0" marL="0">
                        <a:buNone/>
                      </a:pPr>
                      <a:r>
                        <a:rPr lang="en-US" sz="1050" dirty="0">
                          <a:solidFill>
                            <a:srgbClr val="F3F2F1"/>
                          </a:solidFill>
                          <a:latin typeface="Consolas" pitchFamily="34" charset="0"/>
                          <a:ea typeface="Consolas" pitchFamily="34" charset="-122"/>
                          <a:cs typeface="Consolas" pitchFamily="34" charset="-120"/>
                        </a:rPr>
                        <a:t>SenderOrganization</a:t>
                      </a:r>
                      <a:endParaRPr lang="en-US" sz="1050" dirty="0">
                        <a:latin typeface="Consolas" charset="0"/>
                        <a:ea typeface="Consolas" charset="0"/>
                        <a:cs typeface="Consolas" charset="0"/>
                      </a:endParaRPr>
                    </a:p>
                  </a:txBody>
                  <a:tcPr marL="91440" marR="91440" marT="45720" marB="45720" anchor="ctr">
                    <a:lnL w="6350" cap="flat" cmpd="sng" algn="ctr">
                      <a:solidFill>
                        <a:srgbClr val="3B3A39"/>
                      </a:solidFill>
                      <a:prstDash val="solid"/>
                      <a:round/>
                      <a:headEnd type="none" w="med" len="med"/>
                      <a:tailEnd type="none" w="med" len="med"/>
                    </a:lnL>
                    <a:lnR w="6350" cap="flat" cmpd="sng" algn="ctr">
                      <a:solidFill>
                        <a:srgbClr val="3B3A39"/>
                      </a:solidFill>
                      <a:prstDash val="solid"/>
                      <a:round/>
                      <a:headEnd type="none" w="med" len="med"/>
                      <a:tailEnd type="none" w="med" len="med"/>
                    </a:lnR>
                    <a:lnT w="6350" cap="flat" cmpd="sng" algn="ctr">
                      <a:solidFill>
                        <a:srgbClr val="3B3A39"/>
                      </a:solidFill>
                      <a:prstDash val="solid"/>
                      <a:round/>
                      <a:headEnd type="none" w="med" len="med"/>
                      <a:tailEnd type="none" w="med" len="med"/>
                    </a:lnT>
                    <a:lnB w="6350" cap="flat" cmpd="sng" algn="ctr">
                      <a:solidFill>
                        <a:srgbClr val="3B3A39"/>
                      </a:solidFill>
                      <a:prstDash val="solid"/>
                      <a:round/>
                      <a:headEnd type="none" w="med" len="med"/>
                      <a:tailEnd type="none" w="med" len="med"/>
                    </a:lnB>
                    <a:solidFill>
                      <a:srgbClr val="141414"/>
                    </a:solidFill>
                  </a:tcPr>
                </a:tc>
                <a:tc>
                  <a:txBody>
                    <a:bodyPr/>
                    <a:lstStyle/>
                    <a:p>
                      <a:pPr indent="0" marL="0">
                        <a:buNone/>
                      </a:pPr>
                      <a:r>
                        <a:rPr lang="en-US" sz="1050" dirty="0">
                          <a:solidFill>
                            <a:srgbClr val="F3F2F1"/>
                          </a:solidFill>
                          <a:latin typeface="Consolas" pitchFamily="34" charset="0"/>
                          <a:ea typeface="Consolas" pitchFamily="34" charset="-122"/>
                          <a:cs typeface="Consolas" pitchFamily="34" charset="-120"/>
                        </a:rPr>
                        <a:t>Contoso Clinic</a:t>
                      </a:r>
                      <a:endParaRPr lang="en-US" sz="1050" dirty="0">
                        <a:latin typeface="Consolas" charset="0"/>
                        <a:ea typeface="Consolas" charset="0"/>
                        <a:cs typeface="Consolas" charset="0"/>
                      </a:endParaRPr>
                    </a:p>
                  </a:txBody>
                  <a:tcPr marL="91440" marR="91440" marT="45720" marB="45720" anchor="ctr">
                    <a:lnL w="6350" cap="flat" cmpd="sng" algn="ctr">
                      <a:solidFill>
                        <a:srgbClr val="3B3A39"/>
                      </a:solidFill>
                      <a:prstDash val="solid"/>
                      <a:round/>
                      <a:headEnd type="none" w="med" len="med"/>
                      <a:tailEnd type="none" w="med" len="med"/>
                    </a:lnL>
                    <a:lnR w="6350" cap="flat" cmpd="sng" algn="ctr">
                      <a:solidFill>
                        <a:srgbClr val="3B3A39"/>
                      </a:solidFill>
                      <a:prstDash val="solid"/>
                      <a:round/>
                      <a:headEnd type="none" w="med" len="med"/>
                      <a:tailEnd type="none" w="med" len="med"/>
                    </a:lnR>
                    <a:lnT w="6350" cap="flat" cmpd="sng" algn="ctr">
                      <a:solidFill>
                        <a:srgbClr val="3B3A39"/>
                      </a:solidFill>
                      <a:prstDash val="solid"/>
                      <a:round/>
                      <a:headEnd type="none" w="med" len="med"/>
                      <a:tailEnd type="none" w="med" len="med"/>
                    </a:lnT>
                    <a:lnB w="6350" cap="flat" cmpd="sng" algn="ctr">
                      <a:solidFill>
                        <a:srgbClr val="3B3A39"/>
                      </a:solidFill>
                      <a:prstDash val="solid"/>
                      <a:round/>
                      <a:headEnd type="none" w="med" len="med"/>
                      <a:tailEnd type="none" w="med" len="med"/>
                    </a:lnB>
                    <a:solidFill>
                      <a:srgbClr val="141414"/>
                    </a:solidFill>
                  </a:tcPr>
                </a:tc>
                <a:tc>
                  <a:txBody>
                    <a:bodyPr/>
                    <a:lstStyle/>
                    <a:p>
                      <a:pPr indent="0" marL="0">
                        <a:buNone/>
                      </a:pPr>
                      <a:r>
                        <a:rPr lang="en-US" sz="1050" dirty="0">
                          <a:solidFill>
                            <a:srgbClr val="F3F2F1"/>
                          </a:solidFill>
                          <a:latin typeface="Consolas" pitchFamily="34" charset="0"/>
                          <a:ea typeface="Consolas" pitchFamily="34" charset="-122"/>
                          <a:cs typeface="Consolas" pitchFamily="34" charset="-120"/>
                        </a:rPr>
                        <a:t>91%</a:t>
                      </a:r>
                      <a:endParaRPr lang="en-US" sz="1050" dirty="0">
                        <a:latin typeface="Consolas" charset="0"/>
                        <a:ea typeface="Consolas" charset="0"/>
                        <a:cs typeface="Consolas" charset="0"/>
                      </a:endParaRPr>
                    </a:p>
                  </a:txBody>
                  <a:tcPr marL="91440" marR="91440" marT="45720" marB="45720" anchor="ctr">
                    <a:lnL w="6350" cap="flat" cmpd="sng" algn="ctr">
                      <a:solidFill>
                        <a:srgbClr val="3B3A39"/>
                      </a:solidFill>
                      <a:prstDash val="solid"/>
                      <a:round/>
                      <a:headEnd type="none" w="med" len="med"/>
                      <a:tailEnd type="none" w="med" len="med"/>
                    </a:lnL>
                    <a:lnR w="6350" cap="flat" cmpd="sng" algn="ctr">
                      <a:solidFill>
                        <a:srgbClr val="3B3A39"/>
                      </a:solidFill>
                      <a:prstDash val="solid"/>
                      <a:round/>
                      <a:headEnd type="none" w="med" len="med"/>
                      <a:tailEnd type="none" w="med" len="med"/>
                    </a:lnR>
                    <a:lnT w="6350" cap="flat" cmpd="sng" algn="ctr">
                      <a:solidFill>
                        <a:srgbClr val="3B3A39"/>
                      </a:solidFill>
                      <a:prstDash val="solid"/>
                      <a:round/>
                      <a:headEnd type="none" w="med" len="med"/>
                      <a:tailEnd type="none" w="med" len="med"/>
                    </a:lnT>
                    <a:lnB w="6350" cap="flat" cmpd="sng" algn="ctr">
                      <a:solidFill>
                        <a:srgbClr val="3B3A39"/>
                      </a:solidFill>
                      <a:prstDash val="solid"/>
                      <a:round/>
                      <a:headEnd type="none" w="med" len="med"/>
                      <a:tailEnd type="none" w="med" len="med"/>
                    </a:lnB>
                    <a:solidFill>
                      <a:srgbClr val="141414"/>
                    </a:solidFill>
                  </a:tcPr>
                </a:tc>
              </a:tr>
              <a:tr h="502920">
                <a:tc>
                  <a:txBody>
                    <a:bodyPr/>
                    <a:lstStyle/>
                    <a:p>
                      <a:pPr indent="0" marL="0">
                        <a:buNone/>
                      </a:pPr>
                      <a:r>
                        <a:rPr lang="en-US" sz="1050" dirty="0">
                          <a:solidFill>
                            <a:srgbClr val="F3F2F1"/>
                          </a:solidFill>
                          <a:latin typeface="Consolas" pitchFamily="34" charset="0"/>
                          <a:ea typeface="Consolas" pitchFamily="34" charset="-122"/>
                          <a:cs typeface="Consolas" pitchFamily="34" charset="-120"/>
                        </a:rPr>
                        <a:t>DocumentType</a:t>
                      </a:r>
                      <a:endParaRPr lang="en-US" sz="1050" dirty="0">
                        <a:latin typeface="Consolas" charset="0"/>
                        <a:ea typeface="Consolas" charset="0"/>
                        <a:cs typeface="Consolas" charset="0"/>
                      </a:endParaRPr>
                    </a:p>
                  </a:txBody>
                  <a:tcPr marL="91440" marR="91440" marT="45720" marB="45720" anchor="ctr">
                    <a:lnL w="6350" cap="flat" cmpd="sng" algn="ctr">
                      <a:solidFill>
                        <a:srgbClr val="3B3A39"/>
                      </a:solidFill>
                      <a:prstDash val="solid"/>
                      <a:round/>
                      <a:headEnd type="none" w="med" len="med"/>
                      <a:tailEnd type="none" w="med" len="med"/>
                    </a:lnL>
                    <a:lnR w="6350" cap="flat" cmpd="sng" algn="ctr">
                      <a:solidFill>
                        <a:srgbClr val="3B3A39"/>
                      </a:solidFill>
                      <a:prstDash val="solid"/>
                      <a:round/>
                      <a:headEnd type="none" w="med" len="med"/>
                      <a:tailEnd type="none" w="med" len="med"/>
                    </a:lnR>
                    <a:lnT w="6350" cap="flat" cmpd="sng" algn="ctr">
                      <a:solidFill>
                        <a:srgbClr val="3B3A39"/>
                      </a:solidFill>
                      <a:prstDash val="solid"/>
                      <a:round/>
                      <a:headEnd type="none" w="med" len="med"/>
                      <a:tailEnd type="none" w="med" len="med"/>
                    </a:lnT>
                    <a:lnB w="6350" cap="flat" cmpd="sng" algn="ctr">
                      <a:solidFill>
                        <a:srgbClr val="3B3A39"/>
                      </a:solidFill>
                      <a:prstDash val="solid"/>
                      <a:round/>
                      <a:headEnd type="none" w="med" len="med"/>
                      <a:tailEnd type="none" w="med" len="med"/>
                    </a:lnB>
                    <a:solidFill>
                      <a:srgbClr val="141414"/>
                    </a:solidFill>
                  </a:tcPr>
                </a:tc>
                <a:tc>
                  <a:txBody>
                    <a:bodyPr/>
                    <a:lstStyle/>
                    <a:p>
                      <a:pPr indent="0" marL="0">
                        <a:buNone/>
                      </a:pPr>
                      <a:r>
                        <a:rPr lang="en-US" sz="1050" dirty="0">
                          <a:solidFill>
                            <a:srgbClr val="F3F2F1"/>
                          </a:solidFill>
                          <a:latin typeface="Consolas" pitchFamily="34" charset="0"/>
                          <a:ea typeface="Consolas" pitchFamily="34" charset="-122"/>
                          <a:cs typeface="Consolas" pitchFamily="34" charset="-120"/>
                        </a:rPr>
                        <a:t>Referral</a:t>
                      </a:r>
                      <a:endParaRPr lang="en-US" sz="1050" dirty="0">
                        <a:latin typeface="Consolas" charset="0"/>
                        <a:ea typeface="Consolas" charset="0"/>
                        <a:cs typeface="Consolas" charset="0"/>
                      </a:endParaRPr>
                    </a:p>
                  </a:txBody>
                  <a:tcPr marL="91440" marR="91440" marT="45720" marB="45720" anchor="ctr">
                    <a:lnL w="6350" cap="flat" cmpd="sng" algn="ctr">
                      <a:solidFill>
                        <a:srgbClr val="3B3A39"/>
                      </a:solidFill>
                      <a:prstDash val="solid"/>
                      <a:round/>
                      <a:headEnd type="none" w="med" len="med"/>
                      <a:tailEnd type="none" w="med" len="med"/>
                    </a:lnL>
                    <a:lnR w="6350" cap="flat" cmpd="sng" algn="ctr">
                      <a:solidFill>
                        <a:srgbClr val="3B3A39"/>
                      </a:solidFill>
                      <a:prstDash val="solid"/>
                      <a:round/>
                      <a:headEnd type="none" w="med" len="med"/>
                      <a:tailEnd type="none" w="med" len="med"/>
                    </a:lnR>
                    <a:lnT w="6350" cap="flat" cmpd="sng" algn="ctr">
                      <a:solidFill>
                        <a:srgbClr val="3B3A39"/>
                      </a:solidFill>
                      <a:prstDash val="solid"/>
                      <a:round/>
                      <a:headEnd type="none" w="med" len="med"/>
                      <a:tailEnd type="none" w="med" len="med"/>
                    </a:lnT>
                    <a:lnB w="6350" cap="flat" cmpd="sng" algn="ctr">
                      <a:solidFill>
                        <a:srgbClr val="3B3A39"/>
                      </a:solidFill>
                      <a:prstDash val="solid"/>
                      <a:round/>
                      <a:headEnd type="none" w="med" len="med"/>
                      <a:tailEnd type="none" w="med" len="med"/>
                    </a:lnB>
                    <a:solidFill>
                      <a:srgbClr val="141414"/>
                    </a:solidFill>
                  </a:tcPr>
                </a:tc>
                <a:tc>
                  <a:txBody>
                    <a:bodyPr/>
                    <a:lstStyle/>
                    <a:p>
                      <a:pPr indent="0" marL="0">
                        <a:buNone/>
                      </a:pPr>
                      <a:r>
                        <a:rPr lang="en-US" sz="1050" dirty="0">
                          <a:solidFill>
                            <a:srgbClr val="F3F2F1"/>
                          </a:solidFill>
                          <a:latin typeface="Consolas" pitchFamily="34" charset="0"/>
                          <a:ea typeface="Consolas" pitchFamily="34" charset="-122"/>
                          <a:cs typeface="Consolas" pitchFamily="34" charset="-120"/>
                        </a:rPr>
                        <a:t>89%</a:t>
                      </a:r>
                      <a:endParaRPr lang="en-US" sz="1050" dirty="0">
                        <a:latin typeface="Consolas" charset="0"/>
                        <a:ea typeface="Consolas" charset="0"/>
                        <a:cs typeface="Consolas" charset="0"/>
                      </a:endParaRPr>
                    </a:p>
                  </a:txBody>
                  <a:tcPr marL="91440" marR="91440" marT="45720" marB="45720" anchor="ctr">
                    <a:lnL w="6350" cap="flat" cmpd="sng" algn="ctr">
                      <a:solidFill>
                        <a:srgbClr val="3B3A39"/>
                      </a:solidFill>
                      <a:prstDash val="solid"/>
                      <a:round/>
                      <a:headEnd type="none" w="med" len="med"/>
                      <a:tailEnd type="none" w="med" len="med"/>
                    </a:lnL>
                    <a:lnR w="6350" cap="flat" cmpd="sng" algn="ctr">
                      <a:solidFill>
                        <a:srgbClr val="3B3A39"/>
                      </a:solidFill>
                      <a:prstDash val="solid"/>
                      <a:round/>
                      <a:headEnd type="none" w="med" len="med"/>
                      <a:tailEnd type="none" w="med" len="med"/>
                    </a:lnR>
                    <a:lnT w="6350" cap="flat" cmpd="sng" algn="ctr">
                      <a:solidFill>
                        <a:srgbClr val="3B3A39"/>
                      </a:solidFill>
                      <a:prstDash val="solid"/>
                      <a:round/>
                      <a:headEnd type="none" w="med" len="med"/>
                      <a:tailEnd type="none" w="med" len="med"/>
                    </a:lnT>
                    <a:lnB w="6350" cap="flat" cmpd="sng" algn="ctr">
                      <a:solidFill>
                        <a:srgbClr val="3B3A39"/>
                      </a:solidFill>
                      <a:prstDash val="solid"/>
                      <a:round/>
                      <a:headEnd type="none" w="med" len="med"/>
                      <a:tailEnd type="none" w="med" len="med"/>
                    </a:lnB>
                    <a:solidFill>
                      <a:srgbClr val="141414"/>
                    </a:solidFill>
                  </a:tcPr>
                </a:tc>
              </a:tr>
              <a:tr h="502920">
                <a:tc>
                  <a:txBody>
                    <a:bodyPr/>
                    <a:lstStyle/>
                    <a:p>
                      <a:pPr indent="0" marL="0">
                        <a:buNone/>
                      </a:pPr>
                      <a:r>
                        <a:rPr lang="en-US" sz="1050" dirty="0">
                          <a:solidFill>
                            <a:srgbClr val="F3F2F1"/>
                          </a:solidFill>
                          <a:latin typeface="Consolas" pitchFamily="34" charset="0"/>
                          <a:ea typeface="Consolas" pitchFamily="34" charset="-122"/>
                          <a:cs typeface="Consolas" pitchFamily="34" charset="-120"/>
                        </a:rPr>
                        <a:t>DateSent</a:t>
                      </a:r>
                      <a:endParaRPr lang="en-US" sz="1050" dirty="0">
                        <a:latin typeface="Consolas" charset="0"/>
                        <a:ea typeface="Consolas" charset="0"/>
                        <a:cs typeface="Consolas" charset="0"/>
                      </a:endParaRPr>
                    </a:p>
                  </a:txBody>
                  <a:tcPr marL="91440" marR="91440" marT="45720" marB="45720" anchor="ctr">
                    <a:lnL w="6350" cap="flat" cmpd="sng" algn="ctr">
                      <a:solidFill>
                        <a:srgbClr val="3B3A39"/>
                      </a:solidFill>
                      <a:prstDash val="solid"/>
                      <a:round/>
                      <a:headEnd type="none" w="med" len="med"/>
                      <a:tailEnd type="none" w="med" len="med"/>
                    </a:lnL>
                    <a:lnR w="6350" cap="flat" cmpd="sng" algn="ctr">
                      <a:solidFill>
                        <a:srgbClr val="3B3A39"/>
                      </a:solidFill>
                      <a:prstDash val="solid"/>
                      <a:round/>
                      <a:headEnd type="none" w="med" len="med"/>
                      <a:tailEnd type="none" w="med" len="med"/>
                    </a:lnR>
                    <a:lnT w="6350" cap="flat" cmpd="sng" algn="ctr">
                      <a:solidFill>
                        <a:srgbClr val="3B3A39"/>
                      </a:solidFill>
                      <a:prstDash val="solid"/>
                      <a:round/>
                      <a:headEnd type="none" w="med" len="med"/>
                      <a:tailEnd type="none" w="med" len="med"/>
                    </a:lnT>
                    <a:lnB w="6350" cap="flat" cmpd="sng" algn="ctr">
                      <a:solidFill>
                        <a:srgbClr val="3B3A39"/>
                      </a:solidFill>
                      <a:prstDash val="solid"/>
                      <a:round/>
                      <a:headEnd type="none" w="med" len="med"/>
                      <a:tailEnd type="none" w="med" len="med"/>
                    </a:lnB>
                    <a:solidFill>
                      <a:srgbClr val="141414"/>
                    </a:solidFill>
                  </a:tcPr>
                </a:tc>
                <a:tc>
                  <a:txBody>
                    <a:bodyPr/>
                    <a:lstStyle/>
                    <a:p>
                      <a:pPr indent="0" marL="0">
                        <a:buNone/>
                      </a:pPr>
                      <a:r>
                        <a:rPr lang="en-US" sz="1050" dirty="0">
                          <a:solidFill>
                            <a:srgbClr val="F3F2F1"/>
                          </a:solidFill>
                          <a:latin typeface="Consolas" pitchFamily="34" charset="0"/>
                          <a:ea typeface="Consolas" pitchFamily="34" charset="-122"/>
                          <a:cs typeface="Consolas" pitchFamily="34" charset="-120"/>
                        </a:rPr>
                        <a:t>2026-07-18</a:t>
                      </a:r>
                      <a:endParaRPr lang="en-US" sz="1050" dirty="0">
                        <a:latin typeface="Consolas" charset="0"/>
                        <a:ea typeface="Consolas" charset="0"/>
                        <a:cs typeface="Consolas" charset="0"/>
                      </a:endParaRPr>
                    </a:p>
                  </a:txBody>
                  <a:tcPr marL="91440" marR="91440" marT="45720" marB="45720" anchor="ctr">
                    <a:lnL w="6350" cap="flat" cmpd="sng" algn="ctr">
                      <a:solidFill>
                        <a:srgbClr val="3B3A39"/>
                      </a:solidFill>
                      <a:prstDash val="solid"/>
                      <a:round/>
                      <a:headEnd type="none" w="med" len="med"/>
                      <a:tailEnd type="none" w="med" len="med"/>
                    </a:lnL>
                    <a:lnR w="6350" cap="flat" cmpd="sng" algn="ctr">
                      <a:solidFill>
                        <a:srgbClr val="3B3A39"/>
                      </a:solidFill>
                      <a:prstDash val="solid"/>
                      <a:round/>
                      <a:headEnd type="none" w="med" len="med"/>
                      <a:tailEnd type="none" w="med" len="med"/>
                    </a:lnR>
                    <a:lnT w="6350" cap="flat" cmpd="sng" algn="ctr">
                      <a:solidFill>
                        <a:srgbClr val="3B3A39"/>
                      </a:solidFill>
                      <a:prstDash val="solid"/>
                      <a:round/>
                      <a:headEnd type="none" w="med" len="med"/>
                      <a:tailEnd type="none" w="med" len="med"/>
                    </a:lnT>
                    <a:lnB w="6350" cap="flat" cmpd="sng" algn="ctr">
                      <a:solidFill>
                        <a:srgbClr val="3B3A39"/>
                      </a:solidFill>
                      <a:prstDash val="solid"/>
                      <a:round/>
                      <a:headEnd type="none" w="med" len="med"/>
                      <a:tailEnd type="none" w="med" len="med"/>
                    </a:lnB>
                    <a:solidFill>
                      <a:srgbClr val="141414"/>
                    </a:solidFill>
                  </a:tcPr>
                </a:tc>
                <a:tc>
                  <a:txBody>
                    <a:bodyPr/>
                    <a:lstStyle/>
                    <a:p>
                      <a:pPr indent="0" marL="0">
                        <a:buNone/>
                      </a:pPr>
                      <a:r>
                        <a:rPr lang="en-US" sz="1050" dirty="0">
                          <a:solidFill>
                            <a:srgbClr val="F3F2F1"/>
                          </a:solidFill>
                          <a:latin typeface="Consolas" pitchFamily="34" charset="0"/>
                          <a:ea typeface="Consolas" pitchFamily="34" charset="-122"/>
                          <a:cs typeface="Consolas" pitchFamily="34" charset="-120"/>
                        </a:rPr>
                        <a:t>96%</a:t>
                      </a:r>
                      <a:endParaRPr lang="en-US" sz="1050" dirty="0">
                        <a:latin typeface="Consolas" charset="0"/>
                        <a:ea typeface="Consolas" charset="0"/>
                        <a:cs typeface="Consolas" charset="0"/>
                      </a:endParaRPr>
                    </a:p>
                  </a:txBody>
                  <a:tcPr marL="91440" marR="91440" marT="45720" marB="45720" anchor="ctr">
                    <a:lnL w="6350" cap="flat" cmpd="sng" algn="ctr">
                      <a:solidFill>
                        <a:srgbClr val="3B3A39"/>
                      </a:solidFill>
                      <a:prstDash val="solid"/>
                      <a:round/>
                      <a:headEnd type="none" w="med" len="med"/>
                      <a:tailEnd type="none" w="med" len="med"/>
                    </a:lnL>
                    <a:lnR w="6350" cap="flat" cmpd="sng" algn="ctr">
                      <a:solidFill>
                        <a:srgbClr val="3B3A39"/>
                      </a:solidFill>
                      <a:prstDash val="solid"/>
                      <a:round/>
                      <a:headEnd type="none" w="med" len="med"/>
                      <a:tailEnd type="none" w="med" len="med"/>
                    </a:lnR>
                    <a:lnT w="6350" cap="flat" cmpd="sng" algn="ctr">
                      <a:solidFill>
                        <a:srgbClr val="3B3A39"/>
                      </a:solidFill>
                      <a:prstDash val="solid"/>
                      <a:round/>
                      <a:headEnd type="none" w="med" len="med"/>
                      <a:tailEnd type="none" w="med" len="med"/>
                    </a:lnT>
                    <a:lnB w="6350" cap="flat" cmpd="sng" algn="ctr">
                      <a:solidFill>
                        <a:srgbClr val="3B3A39"/>
                      </a:solidFill>
                      <a:prstDash val="solid"/>
                      <a:round/>
                      <a:headEnd type="none" w="med" len="med"/>
                      <a:tailEnd type="none" w="med" len="med"/>
                    </a:lnB>
                    <a:solidFill>
                      <a:srgbClr val="141414"/>
                    </a:solidFill>
                  </a:tcPr>
                </a:tc>
              </a:tr>
              <a:tr h="502920">
                <a:tc>
                  <a:txBody>
                    <a:bodyPr/>
                    <a:lstStyle/>
                    <a:p>
                      <a:pPr indent="0" marL="0">
                        <a:buNone/>
                      </a:pPr>
                      <a:r>
                        <a:rPr lang="en-US" sz="1050" dirty="0">
                          <a:solidFill>
                            <a:srgbClr val="F3F2F1"/>
                          </a:solidFill>
                          <a:latin typeface="Consolas" pitchFamily="34" charset="0"/>
                          <a:ea typeface="Consolas" pitchFamily="34" charset="-122"/>
                          <a:cs typeface="Consolas" pitchFamily="34" charset="-120"/>
                        </a:rPr>
                        <a:t>Summary</a:t>
                      </a:r>
                      <a:endParaRPr lang="en-US" sz="1050" dirty="0">
                        <a:latin typeface="Consolas" charset="0"/>
                        <a:ea typeface="Consolas" charset="0"/>
                        <a:cs typeface="Consolas" charset="0"/>
                      </a:endParaRPr>
                    </a:p>
                  </a:txBody>
                  <a:tcPr marL="91440" marR="91440" marT="45720" marB="45720" anchor="ctr">
                    <a:lnL w="6350" cap="flat" cmpd="sng" algn="ctr">
                      <a:solidFill>
                        <a:srgbClr val="3B3A39"/>
                      </a:solidFill>
                      <a:prstDash val="solid"/>
                      <a:round/>
                      <a:headEnd type="none" w="med" len="med"/>
                      <a:tailEnd type="none" w="med" len="med"/>
                    </a:lnL>
                    <a:lnR w="6350" cap="flat" cmpd="sng" algn="ctr">
                      <a:solidFill>
                        <a:srgbClr val="3B3A39"/>
                      </a:solidFill>
                      <a:prstDash val="solid"/>
                      <a:round/>
                      <a:headEnd type="none" w="med" len="med"/>
                      <a:tailEnd type="none" w="med" len="med"/>
                    </a:lnR>
                    <a:lnT w="6350" cap="flat" cmpd="sng" algn="ctr">
                      <a:solidFill>
                        <a:srgbClr val="3B3A39"/>
                      </a:solidFill>
                      <a:prstDash val="solid"/>
                      <a:round/>
                      <a:headEnd type="none" w="med" len="med"/>
                      <a:tailEnd type="none" w="med" len="med"/>
                    </a:lnT>
                    <a:lnB w="6350" cap="flat" cmpd="sng" algn="ctr">
                      <a:solidFill>
                        <a:srgbClr val="3B3A39"/>
                      </a:solidFill>
                      <a:prstDash val="solid"/>
                      <a:round/>
                      <a:headEnd type="none" w="med" len="med"/>
                      <a:tailEnd type="none" w="med" len="med"/>
                    </a:lnB>
                    <a:solidFill>
                      <a:srgbClr val="141414"/>
                    </a:solidFill>
                  </a:tcPr>
                </a:tc>
                <a:tc>
                  <a:txBody>
                    <a:bodyPr/>
                    <a:lstStyle/>
                    <a:p>
                      <a:pPr indent="0" marL="0">
                        <a:buNone/>
                      </a:pPr>
                      <a:r>
                        <a:rPr lang="en-US" sz="1050" dirty="0">
                          <a:solidFill>
                            <a:srgbClr val="F3F2F1"/>
                          </a:solidFill>
                          <a:latin typeface="Consolas" pitchFamily="34" charset="0"/>
                          <a:ea typeface="Consolas" pitchFamily="34" charset="-122"/>
                          <a:cs typeface="Consolas" pitchFamily="34" charset="-120"/>
                        </a:rPr>
                        <a:t>Referring patient for MRI, requests scheduling confirmation</a:t>
                      </a:r>
                      <a:endParaRPr lang="en-US" sz="1050" dirty="0">
                        <a:latin typeface="Consolas" charset="0"/>
                        <a:ea typeface="Consolas" charset="0"/>
                        <a:cs typeface="Consolas" charset="0"/>
                      </a:endParaRPr>
                    </a:p>
                  </a:txBody>
                  <a:tcPr marL="91440" marR="91440" marT="45720" marB="45720" anchor="ctr">
                    <a:lnL w="6350" cap="flat" cmpd="sng" algn="ctr">
                      <a:solidFill>
                        <a:srgbClr val="3B3A39"/>
                      </a:solidFill>
                      <a:prstDash val="solid"/>
                      <a:round/>
                      <a:headEnd type="none" w="med" len="med"/>
                      <a:tailEnd type="none" w="med" len="med"/>
                    </a:lnL>
                    <a:lnR w="6350" cap="flat" cmpd="sng" algn="ctr">
                      <a:solidFill>
                        <a:srgbClr val="3B3A39"/>
                      </a:solidFill>
                      <a:prstDash val="solid"/>
                      <a:round/>
                      <a:headEnd type="none" w="med" len="med"/>
                      <a:tailEnd type="none" w="med" len="med"/>
                    </a:lnR>
                    <a:lnT w="6350" cap="flat" cmpd="sng" algn="ctr">
                      <a:solidFill>
                        <a:srgbClr val="3B3A39"/>
                      </a:solidFill>
                      <a:prstDash val="solid"/>
                      <a:round/>
                      <a:headEnd type="none" w="med" len="med"/>
                      <a:tailEnd type="none" w="med" len="med"/>
                    </a:lnT>
                    <a:lnB w="6350" cap="flat" cmpd="sng" algn="ctr">
                      <a:solidFill>
                        <a:srgbClr val="3B3A39"/>
                      </a:solidFill>
                      <a:prstDash val="solid"/>
                      <a:round/>
                      <a:headEnd type="none" w="med" len="med"/>
                      <a:tailEnd type="none" w="med" len="med"/>
                    </a:lnB>
                    <a:solidFill>
                      <a:srgbClr val="141414"/>
                    </a:solidFill>
                  </a:tcPr>
                </a:tc>
                <a:tc>
                  <a:txBody>
                    <a:bodyPr/>
                    <a:lstStyle/>
                    <a:p>
                      <a:pPr indent="0" marL="0">
                        <a:buNone/>
                      </a:pPr>
                      <a:r>
                        <a:rPr lang="en-US" sz="1050" dirty="0">
                          <a:solidFill>
                            <a:srgbClr val="F3F2F1"/>
                          </a:solidFill>
                          <a:latin typeface="Consolas" pitchFamily="34" charset="0"/>
                          <a:ea typeface="Consolas" pitchFamily="34" charset="-122"/>
                          <a:cs typeface="Consolas" pitchFamily="34" charset="-120"/>
                        </a:rPr>
                        <a:t>generated</a:t>
                      </a:r>
                      <a:endParaRPr lang="en-US" sz="1050" dirty="0">
                        <a:latin typeface="Consolas" charset="0"/>
                        <a:ea typeface="Consolas" charset="0"/>
                        <a:cs typeface="Consolas" charset="0"/>
                      </a:endParaRPr>
                    </a:p>
                  </a:txBody>
                  <a:tcPr marL="91440" marR="91440" marT="45720" marB="45720" anchor="ctr">
                    <a:lnL w="6350" cap="flat" cmpd="sng" algn="ctr">
                      <a:solidFill>
                        <a:srgbClr val="3B3A39"/>
                      </a:solidFill>
                      <a:prstDash val="solid"/>
                      <a:round/>
                      <a:headEnd type="none" w="med" len="med"/>
                      <a:tailEnd type="none" w="med" len="med"/>
                    </a:lnL>
                    <a:lnR w="6350" cap="flat" cmpd="sng" algn="ctr">
                      <a:solidFill>
                        <a:srgbClr val="3B3A39"/>
                      </a:solidFill>
                      <a:prstDash val="solid"/>
                      <a:round/>
                      <a:headEnd type="none" w="med" len="med"/>
                      <a:tailEnd type="none" w="med" len="med"/>
                    </a:lnR>
                    <a:lnT w="6350" cap="flat" cmpd="sng" algn="ctr">
                      <a:solidFill>
                        <a:srgbClr val="3B3A39"/>
                      </a:solidFill>
                      <a:prstDash val="solid"/>
                      <a:round/>
                      <a:headEnd type="none" w="med" len="med"/>
                      <a:tailEnd type="none" w="med" len="med"/>
                    </a:lnT>
                    <a:lnB w="6350" cap="flat" cmpd="sng" algn="ctr">
                      <a:solidFill>
                        <a:srgbClr val="3B3A39"/>
                      </a:solidFill>
                      <a:prstDash val="solid"/>
                      <a:round/>
                      <a:headEnd type="none" w="med" len="med"/>
                      <a:tailEnd type="none" w="med" len="med"/>
                    </a:lnB>
                    <a:solidFill>
                      <a:srgbClr val="141414"/>
                    </a:solidFill>
                  </a:tcPr>
                </a:tc>
              </a:tr>
              <a:tr h="502920">
                <a:tc>
                  <a:txBody>
                    <a:bodyPr/>
                    <a:lstStyle/>
                    <a:p>
                      <a:pPr indent="0" marL="0">
                        <a:buNone/>
                      </a:pPr>
                      <a:r>
                        <a:rPr lang="en-US" sz="1050" dirty="0">
                          <a:solidFill>
                            <a:srgbClr val="F3F2F1"/>
                          </a:solidFill>
                          <a:latin typeface="Consolas" pitchFamily="34" charset="0"/>
                          <a:ea typeface="Consolas" pitchFamily="34" charset="-122"/>
                          <a:cs typeface="Consolas" pitchFamily="34" charset="-120"/>
                        </a:rPr>
                        <a:t>ActionRequired</a:t>
                      </a:r>
                      <a:endParaRPr lang="en-US" sz="1050" dirty="0">
                        <a:latin typeface="Consolas" charset="0"/>
                        <a:ea typeface="Consolas" charset="0"/>
                        <a:cs typeface="Consolas" charset="0"/>
                      </a:endParaRPr>
                    </a:p>
                  </a:txBody>
                  <a:tcPr marL="91440" marR="91440" marT="45720" marB="45720" anchor="ctr">
                    <a:lnL w="6350" cap="flat" cmpd="sng" algn="ctr">
                      <a:solidFill>
                        <a:srgbClr val="3B3A39"/>
                      </a:solidFill>
                      <a:prstDash val="solid"/>
                      <a:round/>
                      <a:headEnd type="none" w="med" len="med"/>
                      <a:tailEnd type="none" w="med" len="med"/>
                    </a:lnL>
                    <a:lnR w="6350" cap="flat" cmpd="sng" algn="ctr">
                      <a:solidFill>
                        <a:srgbClr val="3B3A39"/>
                      </a:solidFill>
                      <a:prstDash val="solid"/>
                      <a:round/>
                      <a:headEnd type="none" w="med" len="med"/>
                      <a:tailEnd type="none" w="med" len="med"/>
                    </a:lnR>
                    <a:lnT w="6350" cap="flat" cmpd="sng" algn="ctr">
                      <a:solidFill>
                        <a:srgbClr val="3B3A39"/>
                      </a:solidFill>
                      <a:prstDash val="solid"/>
                      <a:round/>
                      <a:headEnd type="none" w="med" len="med"/>
                      <a:tailEnd type="none" w="med" len="med"/>
                    </a:lnT>
                    <a:lnB w="6350" cap="flat" cmpd="sng" algn="ctr">
                      <a:solidFill>
                        <a:srgbClr val="3B3A39"/>
                      </a:solidFill>
                      <a:prstDash val="solid"/>
                      <a:round/>
                      <a:headEnd type="none" w="med" len="med"/>
                      <a:tailEnd type="none" w="med" len="med"/>
                    </a:lnB>
                    <a:solidFill>
                      <a:srgbClr val="141414"/>
                    </a:solidFill>
                  </a:tcPr>
                </a:tc>
                <a:tc>
                  <a:txBody>
                    <a:bodyPr/>
                    <a:lstStyle/>
                    <a:p>
                      <a:pPr indent="0" marL="0">
                        <a:buNone/>
                      </a:pPr>
                      <a:r>
                        <a:rPr lang="en-US" sz="1050" dirty="0">
                          <a:solidFill>
                            <a:srgbClr val="F3F2F1"/>
                          </a:solidFill>
                          <a:latin typeface="Consolas" pitchFamily="34" charset="0"/>
                          <a:ea typeface="Consolas" pitchFamily="34" charset="-122"/>
                          <a:cs typeface="Consolas" pitchFamily="34" charset="-120"/>
                        </a:rPr>
                        <a:t>true</a:t>
                      </a:r>
                      <a:endParaRPr lang="en-US" sz="1050" dirty="0">
                        <a:latin typeface="Consolas" charset="0"/>
                        <a:ea typeface="Consolas" charset="0"/>
                        <a:cs typeface="Consolas" charset="0"/>
                      </a:endParaRPr>
                    </a:p>
                  </a:txBody>
                  <a:tcPr marL="91440" marR="91440" marT="45720" marB="45720" anchor="ctr">
                    <a:lnL w="6350" cap="flat" cmpd="sng" algn="ctr">
                      <a:solidFill>
                        <a:srgbClr val="3B3A39"/>
                      </a:solidFill>
                      <a:prstDash val="solid"/>
                      <a:round/>
                      <a:headEnd type="none" w="med" len="med"/>
                      <a:tailEnd type="none" w="med" len="med"/>
                    </a:lnL>
                    <a:lnR w="6350" cap="flat" cmpd="sng" algn="ctr">
                      <a:solidFill>
                        <a:srgbClr val="3B3A39"/>
                      </a:solidFill>
                      <a:prstDash val="solid"/>
                      <a:round/>
                      <a:headEnd type="none" w="med" len="med"/>
                      <a:tailEnd type="none" w="med" len="med"/>
                    </a:lnR>
                    <a:lnT w="6350" cap="flat" cmpd="sng" algn="ctr">
                      <a:solidFill>
                        <a:srgbClr val="3B3A39"/>
                      </a:solidFill>
                      <a:prstDash val="solid"/>
                      <a:round/>
                      <a:headEnd type="none" w="med" len="med"/>
                      <a:tailEnd type="none" w="med" len="med"/>
                    </a:lnT>
                    <a:lnB w="6350" cap="flat" cmpd="sng" algn="ctr">
                      <a:solidFill>
                        <a:srgbClr val="3B3A39"/>
                      </a:solidFill>
                      <a:prstDash val="solid"/>
                      <a:round/>
                      <a:headEnd type="none" w="med" len="med"/>
                      <a:tailEnd type="none" w="med" len="med"/>
                    </a:lnB>
                    <a:solidFill>
                      <a:srgbClr val="141414"/>
                    </a:solidFill>
                  </a:tcPr>
                </a:tc>
                <a:tc>
                  <a:txBody>
                    <a:bodyPr/>
                    <a:lstStyle/>
                    <a:p>
                      <a:pPr indent="0" marL="0">
                        <a:buNone/>
                      </a:pPr>
                      <a:r>
                        <a:rPr lang="en-US" sz="1050" dirty="0">
                          <a:solidFill>
                            <a:srgbClr val="F3F2F1"/>
                          </a:solidFill>
                          <a:latin typeface="Consolas" pitchFamily="34" charset="0"/>
                          <a:ea typeface="Consolas" pitchFamily="34" charset="-122"/>
                          <a:cs typeface="Consolas" pitchFamily="34" charset="-120"/>
                        </a:rPr>
                        <a:t>generated</a:t>
                      </a:r>
                      <a:endParaRPr lang="en-US" sz="1050" dirty="0">
                        <a:latin typeface="Consolas" charset="0"/>
                        <a:ea typeface="Consolas" charset="0"/>
                        <a:cs typeface="Consolas" charset="0"/>
                      </a:endParaRPr>
                    </a:p>
                  </a:txBody>
                  <a:tcPr marL="91440" marR="91440" marT="45720" marB="45720" anchor="ctr">
                    <a:lnL w="6350" cap="flat" cmpd="sng" algn="ctr">
                      <a:solidFill>
                        <a:srgbClr val="3B3A39"/>
                      </a:solidFill>
                      <a:prstDash val="solid"/>
                      <a:round/>
                      <a:headEnd type="none" w="med" len="med"/>
                      <a:tailEnd type="none" w="med" len="med"/>
                    </a:lnL>
                    <a:lnR w="6350" cap="flat" cmpd="sng" algn="ctr">
                      <a:solidFill>
                        <a:srgbClr val="3B3A39"/>
                      </a:solidFill>
                      <a:prstDash val="solid"/>
                      <a:round/>
                      <a:headEnd type="none" w="med" len="med"/>
                      <a:tailEnd type="none" w="med" len="med"/>
                    </a:lnR>
                    <a:lnT w="6350" cap="flat" cmpd="sng" algn="ctr">
                      <a:solidFill>
                        <a:srgbClr val="3B3A39"/>
                      </a:solidFill>
                      <a:prstDash val="solid"/>
                      <a:round/>
                      <a:headEnd type="none" w="med" len="med"/>
                      <a:tailEnd type="none" w="med" len="med"/>
                    </a:lnT>
                    <a:lnB w="6350" cap="flat" cmpd="sng" algn="ctr">
                      <a:solidFill>
                        <a:srgbClr val="3B3A39"/>
                      </a:solidFill>
                      <a:prstDash val="solid"/>
                      <a:round/>
                      <a:headEnd type="none" w="med" len="med"/>
                      <a:tailEnd type="none" w="med" len="med"/>
                    </a:lnB>
                    <a:solidFill>
                      <a:srgbClr val="141414"/>
                    </a:solidFill>
                  </a:tcPr>
                </a:tc>
              </a:tr>
            </a:tbl>
          </a:graphicData>
        </a:graphic>
      </p:graphicFrame>
      <p:sp>
        <p:nvSpPr>
          <p:cNvPr id="21" name="Text 14"/>
          <p:cNvSpPr/>
          <p:nvPr/>
        </p:nvSpPr>
        <p:spPr>
          <a:xfrm>
            <a:off x="6126480" y="5212080"/>
            <a:ext cx="5212080" cy="502920"/>
          </a:xfrm>
          <a:prstGeom prst="rect">
            <a:avLst/>
          </a:prstGeom>
          <a:noFill/>
          <a:ln/>
        </p:spPr>
        <p:txBody>
          <a:bodyPr wrap="square" lIns="0" tIns="0" rIns="0" bIns="0" rtlCol="0" anchor="ctr"/>
          <a:lstStyle/>
          <a:p>
            <a:pPr indent="0" marL="0">
              <a:buNone/>
            </a:pPr>
            <a:r>
              <a:rPr lang="en-US" sz="1050" i="1" dirty="0">
                <a:solidFill>
                  <a:srgbClr val="8A8886"/>
                </a:solidFill>
                <a:latin typeface="Segoe UI" pitchFamily="34" charset="0"/>
                <a:ea typeface="Segoe UI" pitchFamily="34" charset="-122"/>
                <a:cs typeface="Segoe UI" pitchFamily="34" charset="-120"/>
              </a:rPr>
              <a:t>Every field carries a confidence score and source grounding — teams can straight-through process high-confidence fields and route only low-confidence ones for review.</a:t>
            </a:r>
            <a:endParaRPr lang="en-US" sz="1050" dirty="0"/>
          </a:p>
        </p:txBody>
      </p:sp>
      <p:sp>
        <p:nvSpPr>
          <p:cNvPr id="22" name="Text 15"/>
          <p:cNvSpPr/>
          <p:nvPr/>
        </p:nvSpPr>
        <p:spPr>
          <a:xfrm>
            <a:off x="457200" y="6419088"/>
            <a:ext cx="7315200" cy="274320"/>
          </a:xfrm>
          <a:prstGeom prst="rect">
            <a:avLst/>
          </a:prstGeom>
          <a:noFill/>
          <a:ln/>
        </p:spPr>
        <p:txBody>
          <a:bodyPr wrap="square" lIns="0" tIns="0" rIns="0" bIns="0" rtlCol="0" anchor="ctr"/>
          <a:lstStyle/>
          <a:p>
            <a:pPr indent="0" marL="0">
              <a:buNone/>
            </a:pPr>
            <a:r>
              <a:rPr lang="en-US" sz="900" dirty="0">
                <a:solidFill>
                  <a:srgbClr val="8A8886"/>
                </a:solidFill>
                <a:latin typeface="Segoe UI" pitchFamily="34" charset="0"/>
                <a:ea typeface="Segoe UI" pitchFamily="34" charset="-122"/>
                <a:cs typeface="Segoe UI" pitchFamily="34" charset="-120"/>
              </a:rPr>
              <a:t>Fax Ingest &amp; Extraction with Azure Content Understanding</a:t>
            </a:r>
            <a:endParaRPr lang="en-US" sz="900" dirty="0"/>
          </a:p>
        </p:txBody>
      </p:sp>
      <p:sp>
        <p:nvSpPr>
          <p:cNvPr id="23" name="Text 16"/>
          <p:cNvSpPr/>
          <p:nvPr/>
        </p:nvSpPr>
        <p:spPr>
          <a:xfrm>
            <a:off x="11247120" y="6419088"/>
            <a:ext cx="457200" cy="274320"/>
          </a:xfrm>
          <a:prstGeom prst="rect">
            <a:avLst/>
          </a:prstGeom>
          <a:noFill/>
          <a:ln/>
        </p:spPr>
        <p:txBody>
          <a:bodyPr wrap="square" lIns="0" tIns="0" rIns="0" bIns="0" rtlCol="0" anchor="ctr"/>
          <a:lstStyle/>
          <a:p>
            <a:pPr algn="r" indent="0" marL="0">
              <a:buNone/>
            </a:pPr>
            <a:r>
              <a:rPr lang="en-US" sz="900" dirty="0">
                <a:solidFill>
                  <a:srgbClr val="8A8886"/>
                </a:solidFill>
                <a:latin typeface="Segoe UI" pitchFamily="34" charset="0"/>
                <a:ea typeface="Segoe UI" pitchFamily="34" charset="-122"/>
                <a:cs typeface="Segoe U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1A19"/>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50E6FF"/>
                </a:solidFill>
                <a:latin typeface="Segoe UI" pitchFamily="34" charset="0"/>
                <a:ea typeface="Segoe UI" pitchFamily="34" charset="-122"/>
                <a:cs typeface="Segoe UI" pitchFamily="34" charset="-120"/>
              </a:rPr>
              <a:t>BEYOND OCR</a:t>
            </a:r>
            <a:endParaRPr lang="en-US" sz="1300" dirty="0"/>
          </a:p>
        </p:txBody>
      </p:sp>
      <p:sp>
        <p:nvSpPr>
          <p:cNvPr id="3" name="Text 1"/>
          <p:cNvSpPr/>
          <p:nvPr/>
        </p:nvSpPr>
        <p:spPr>
          <a:xfrm>
            <a:off x="548640" y="658368"/>
            <a:ext cx="10515600" cy="777240"/>
          </a:xfrm>
          <a:prstGeom prst="rect">
            <a:avLst/>
          </a:prstGeom>
          <a:noFill/>
          <a:ln/>
        </p:spPr>
        <p:txBody>
          <a:bodyPr wrap="square" lIns="0" tIns="0" rIns="0" bIns="0" rtlCol="0" anchor="ctr"/>
          <a:lstStyle/>
          <a:p>
            <a:pPr indent="0" marL="0">
              <a:buNone/>
            </a:pPr>
            <a:r>
              <a:rPr lang="en-US" sz="3200" b="1" dirty="0">
                <a:solidFill>
                  <a:srgbClr val="F3F2F1"/>
                </a:solidFill>
                <a:latin typeface="Segoe UI Semibold" pitchFamily="34" charset="0"/>
                <a:ea typeface="Segoe UI Semibold" pitchFamily="34" charset="-122"/>
                <a:cs typeface="Segoe UI Semibold" pitchFamily="34" charset="-120"/>
              </a:rPr>
              <a:t>Why Azure Content Understanding</a:t>
            </a:r>
            <a:endParaRPr lang="en-US" sz="3200" dirty="0"/>
          </a:p>
        </p:txBody>
      </p:sp>
      <p:sp>
        <p:nvSpPr>
          <p:cNvPr id="4" name="Text 2"/>
          <p:cNvSpPr/>
          <p:nvPr/>
        </p:nvSpPr>
        <p:spPr>
          <a:xfrm>
            <a:off x="548640" y="1463040"/>
            <a:ext cx="10789920" cy="457200"/>
          </a:xfrm>
          <a:prstGeom prst="rect">
            <a:avLst/>
          </a:prstGeom>
          <a:noFill/>
          <a:ln/>
        </p:spPr>
        <p:txBody>
          <a:bodyPr wrap="square" lIns="0" tIns="0" rIns="0" bIns="0" rtlCol="0" anchor="ctr"/>
          <a:lstStyle/>
          <a:p>
            <a:pPr indent="0" marL="0">
              <a:buNone/>
            </a:pPr>
            <a:r>
              <a:rPr lang="en-US" sz="1350" dirty="0">
                <a:solidFill>
                  <a:srgbClr val="C8C6C4"/>
                </a:solidFill>
                <a:latin typeface="Segoe UI" pitchFamily="34" charset="0"/>
                <a:ea typeface="Segoe UI" pitchFamily="34" charset="-122"/>
                <a:cs typeface="Segoe UI" pitchFamily="34" charset="-120"/>
              </a:rPr>
              <a:t>Classic OCR / Document Intelligence extracts literal text. Content Understanding's custom analyzers combine three field methods in a single schema:</a:t>
            </a:r>
            <a:endParaRPr lang="en-US" sz="1350" dirty="0"/>
          </a:p>
        </p:txBody>
      </p:sp>
      <p:sp>
        <p:nvSpPr>
          <p:cNvPr id="5" name="Shape 3"/>
          <p:cNvSpPr/>
          <p:nvPr/>
        </p:nvSpPr>
        <p:spPr>
          <a:xfrm>
            <a:off x="548640" y="2148840"/>
            <a:ext cx="3474720" cy="3566160"/>
          </a:xfrm>
          <a:prstGeom prst="roundRect">
            <a:avLst>
              <a:gd name="adj" fmla="val 1579"/>
            </a:avLst>
          </a:prstGeom>
          <a:solidFill>
            <a:srgbClr val="252423"/>
          </a:solidFill>
          <a:ln w="19050">
            <a:solidFill>
              <a:srgbClr val="0078D4"/>
            </a:solidFill>
            <a:prstDash val="solid"/>
          </a:ln>
        </p:spPr>
      </p:sp>
      <p:sp>
        <p:nvSpPr>
          <p:cNvPr id="6" name="Shape 4"/>
          <p:cNvSpPr/>
          <p:nvPr/>
        </p:nvSpPr>
        <p:spPr>
          <a:xfrm>
            <a:off x="822960" y="2468880"/>
            <a:ext cx="685800" cy="685800"/>
          </a:xfrm>
          <a:prstGeom prst="ellipse">
            <a:avLst/>
          </a:prstGeom>
          <a:solidFill>
            <a:srgbClr val="0078D4"/>
          </a:solidFill>
          <a:ln/>
        </p:spPr>
      </p:sp>
      <p:pic>
        <p:nvPicPr>
          <p:cNvPr id="7" name="Image 0" descr="preencoded.png">    </p:cNvPr>
          <p:cNvPicPr>
            <a:picLocks noChangeAspect="1"/>
          </p:cNvPicPr>
          <p:nvPr/>
        </p:nvPicPr>
        <p:blipFill>
          <a:blip r:embed="rId1"/>
          <a:stretch>
            <a:fillRect/>
          </a:stretch>
        </p:blipFill>
        <p:spPr>
          <a:xfrm>
            <a:off x="987552" y="2633472"/>
            <a:ext cx="356616" cy="356616"/>
          </a:xfrm>
          <a:prstGeom prst="rect">
            <a:avLst/>
          </a:prstGeom>
        </p:spPr>
      </p:pic>
      <p:sp>
        <p:nvSpPr>
          <p:cNvPr id="8" name="Text 5"/>
          <p:cNvSpPr/>
          <p:nvPr/>
        </p:nvSpPr>
        <p:spPr>
          <a:xfrm>
            <a:off x="822960" y="3337560"/>
            <a:ext cx="2926080" cy="411480"/>
          </a:xfrm>
          <a:prstGeom prst="rect">
            <a:avLst/>
          </a:prstGeom>
          <a:noFill/>
          <a:ln/>
        </p:spPr>
        <p:txBody>
          <a:bodyPr wrap="square" lIns="0" tIns="0" rIns="0" bIns="0" rtlCol="0" anchor="ctr"/>
          <a:lstStyle/>
          <a:p>
            <a:pPr indent="0" marL="0">
              <a:buNone/>
            </a:pPr>
            <a:r>
              <a:rPr lang="en-US" sz="2000" b="1" dirty="0">
                <a:solidFill>
                  <a:srgbClr val="F3F2F1"/>
                </a:solidFill>
                <a:latin typeface="Segoe UI Semibold" pitchFamily="34" charset="0"/>
                <a:ea typeface="Segoe UI Semibold" pitchFamily="34" charset="-122"/>
                <a:cs typeface="Segoe UI Semibold" pitchFamily="34" charset="-120"/>
              </a:rPr>
              <a:t>Extract</a:t>
            </a:r>
            <a:endParaRPr lang="en-US" sz="2000" dirty="0"/>
          </a:p>
        </p:txBody>
      </p:sp>
      <p:sp>
        <p:nvSpPr>
          <p:cNvPr id="9" name="Text 6"/>
          <p:cNvSpPr/>
          <p:nvPr/>
        </p:nvSpPr>
        <p:spPr>
          <a:xfrm>
            <a:off x="822960" y="3794760"/>
            <a:ext cx="2926080" cy="731520"/>
          </a:xfrm>
          <a:prstGeom prst="rect">
            <a:avLst/>
          </a:prstGeom>
          <a:noFill/>
          <a:ln/>
        </p:spPr>
        <p:txBody>
          <a:bodyPr wrap="square" lIns="0" tIns="0" rIns="0" bIns="0" rtlCol="0" anchor="ctr"/>
          <a:lstStyle/>
          <a:p>
            <a:pPr indent="0" marL="0">
              <a:buNone/>
            </a:pPr>
            <a:r>
              <a:rPr lang="en-US" sz="1250" dirty="0">
                <a:solidFill>
                  <a:srgbClr val="C8C6C4"/>
                </a:solidFill>
                <a:latin typeface="Segoe UI" pitchFamily="34" charset="0"/>
                <a:ea typeface="Segoe UI" pitchFamily="34" charset="-122"/>
                <a:cs typeface="Segoe UI" pitchFamily="34" charset="-120"/>
              </a:rPr>
              <a:t>Pulls a value verbatim from the document.</a:t>
            </a:r>
            <a:endParaRPr lang="en-US" sz="1250" dirty="0"/>
          </a:p>
        </p:txBody>
      </p:sp>
      <p:sp>
        <p:nvSpPr>
          <p:cNvPr id="10" name="Shape 7"/>
          <p:cNvSpPr/>
          <p:nvPr/>
        </p:nvSpPr>
        <p:spPr>
          <a:xfrm>
            <a:off x="822960" y="4572000"/>
            <a:ext cx="2926080" cy="0"/>
          </a:xfrm>
          <a:prstGeom prst="line">
            <a:avLst/>
          </a:prstGeom>
          <a:noFill/>
          <a:ln w="12700">
            <a:solidFill>
              <a:srgbClr val="3B3A39"/>
            </a:solidFill>
            <a:prstDash val="solid"/>
          </a:ln>
        </p:spPr>
      </p:sp>
      <p:sp>
        <p:nvSpPr>
          <p:cNvPr id="11" name="Text 8"/>
          <p:cNvSpPr/>
          <p:nvPr/>
        </p:nvSpPr>
        <p:spPr>
          <a:xfrm>
            <a:off x="822960" y="4709160"/>
            <a:ext cx="2926080" cy="228600"/>
          </a:xfrm>
          <a:prstGeom prst="rect">
            <a:avLst/>
          </a:prstGeom>
          <a:noFill/>
          <a:ln/>
        </p:spPr>
        <p:txBody>
          <a:bodyPr wrap="square" lIns="0" tIns="0" rIns="0" bIns="0" rtlCol="0" anchor="ctr"/>
          <a:lstStyle/>
          <a:p>
            <a:pPr indent="0" marL="0">
              <a:buNone/>
            </a:pPr>
            <a:r>
              <a:rPr lang="en-US" sz="900" b="1" spc="100" kern="0" dirty="0">
                <a:solidFill>
                  <a:srgbClr val="0078D4"/>
                </a:solidFill>
                <a:latin typeface="Segoe UI" pitchFamily="34" charset="0"/>
                <a:ea typeface="Segoe UI" pitchFamily="34" charset="-122"/>
                <a:cs typeface="Segoe UI" pitchFamily="34" charset="-120"/>
              </a:rPr>
              <a:t>EXAMPLE FIELDS</a:t>
            </a:r>
            <a:endParaRPr lang="en-US" sz="900" dirty="0"/>
          </a:p>
        </p:txBody>
      </p:sp>
      <p:sp>
        <p:nvSpPr>
          <p:cNvPr id="12" name="Text 9"/>
          <p:cNvSpPr/>
          <p:nvPr/>
        </p:nvSpPr>
        <p:spPr>
          <a:xfrm>
            <a:off x="822960" y="4937760"/>
            <a:ext cx="2926080" cy="640080"/>
          </a:xfrm>
          <a:prstGeom prst="rect">
            <a:avLst/>
          </a:prstGeom>
          <a:noFill/>
          <a:ln/>
        </p:spPr>
        <p:txBody>
          <a:bodyPr wrap="square" lIns="0" tIns="0" rIns="0" bIns="0" rtlCol="0" anchor="ctr"/>
          <a:lstStyle/>
          <a:p>
            <a:pPr indent="0" marL="0">
              <a:buNone/>
            </a:pPr>
            <a:r>
              <a:rPr lang="en-US" sz="1050" dirty="0">
                <a:solidFill>
                  <a:srgbClr val="F3F2F1"/>
                </a:solidFill>
                <a:latin typeface="Consolas" pitchFamily="34" charset="0"/>
                <a:ea typeface="Consolas" pitchFamily="34" charset="-122"/>
                <a:cs typeface="Consolas" pitchFamily="34" charset="-120"/>
              </a:rPr>
              <a:t>SenderName, DateSent, PageCount</a:t>
            </a:r>
            <a:endParaRPr lang="en-US" sz="1050" dirty="0"/>
          </a:p>
        </p:txBody>
      </p:sp>
      <p:sp>
        <p:nvSpPr>
          <p:cNvPr id="13" name="Shape 10"/>
          <p:cNvSpPr/>
          <p:nvPr/>
        </p:nvSpPr>
        <p:spPr>
          <a:xfrm>
            <a:off x="4343400" y="2148840"/>
            <a:ext cx="3474720" cy="3566160"/>
          </a:xfrm>
          <a:prstGeom prst="roundRect">
            <a:avLst>
              <a:gd name="adj" fmla="val 1579"/>
            </a:avLst>
          </a:prstGeom>
          <a:solidFill>
            <a:srgbClr val="252423"/>
          </a:solidFill>
          <a:ln w="19050">
            <a:solidFill>
              <a:srgbClr val="50E6FF"/>
            </a:solidFill>
            <a:prstDash val="solid"/>
          </a:ln>
        </p:spPr>
      </p:sp>
      <p:sp>
        <p:nvSpPr>
          <p:cNvPr id="14" name="Shape 11"/>
          <p:cNvSpPr/>
          <p:nvPr/>
        </p:nvSpPr>
        <p:spPr>
          <a:xfrm>
            <a:off x="4617720" y="2468880"/>
            <a:ext cx="685800" cy="685800"/>
          </a:xfrm>
          <a:prstGeom prst="ellipse">
            <a:avLst/>
          </a:prstGeom>
          <a:solidFill>
            <a:srgbClr val="50E6FF"/>
          </a:solidFill>
          <a:ln/>
        </p:spPr>
      </p:sp>
      <p:pic>
        <p:nvPicPr>
          <p:cNvPr id="15" name="Image 1" descr="preencoded.png">    </p:cNvPr>
          <p:cNvPicPr>
            <a:picLocks noChangeAspect="1"/>
          </p:cNvPicPr>
          <p:nvPr/>
        </p:nvPicPr>
        <p:blipFill>
          <a:blip r:embed="rId2"/>
          <a:stretch>
            <a:fillRect/>
          </a:stretch>
        </p:blipFill>
        <p:spPr>
          <a:xfrm>
            <a:off x="4782312" y="2633472"/>
            <a:ext cx="356616" cy="356616"/>
          </a:xfrm>
          <a:prstGeom prst="rect">
            <a:avLst/>
          </a:prstGeom>
        </p:spPr>
      </p:pic>
      <p:sp>
        <p:nvSpPr>
          <p:cNvPr id="16" name="Text 12"/>
          <p:cNvSpPr/>
          <p:nvPr/>
        </p:nvSpPr>
        <p:spPr>
          <a:xfrm>
            <a:off x="4617720" y="3337560"/>
            <a:ext cx="2926080" cy="411480"/>
          </a:xfrm>
          <a:prstGeom prst="rect">
            <a:avLst/>
          </a:prstGeom>
          <a:noFill/>
          <a:ln/>
        </p:spPr>
        <p:txBody>
          <a:bodyPr wrap="square" lIns="0" tIns="0" rIns="0" bIns="0" rtlCol="0" anchor="ctr"/>
          <a:lstStyle/>
          <a:p>
            <a:pPr indent="0" marL="0">
              <a:buNone/>
            </a:pPr>
            <a:r>
              <a:rPr lang="en-US" sz="2000" b="1" dirty="0">
                <a:solidFill>
                  <a:srgbClr val="F3F2F1"/>
                </a:solidFill>
                <a:latin typeface="Segoe UI Semibold" pitchFamily="34" charset="0"/>
                <a:ea typeface="Segoe UI Semibold" pitchFamily="34" charset="-122"/>
                <a:cs typeface="Segoe UI Semibold" pitchFamily="34" charset="-120"/>
              </a:rPr>
              <a:t>Classify</a:t>
            </a:r>
            <a:endParaRPr lang="en-US" sz="2000" dirty="0"/>
          </a:p>
        </p:txBody>
      </p:sp>
      <p:sp>
        <p:nvSpPr>
          <p:cNvPr id="17" name="Text 13"/>
          <p:cNvSpPr/>
          <p:nvPr/>
        </p:nvSpPr>
        <p:spPr>
          <a:xfrm>
            <a:off x="4617720" y="3794760"/>
            <a:ext cx="2926080" cy="731520"/>
          </a:xfrm>
          <a:prstGeom prst="rect">
            <a:avLst/>
          </a:prstGeom>
          <a:noFill/>
          <a:ln/>
        </p:spPr>
        <p:txBody>
          <a:bodyPr wrap="square" lIns="0" tIns="0" rIns="0" bIns="0" rtlCol="0" anchor="ctr"/>
          <a:lstStyle/>
          <a:p>
            <a:pPr indent="0" marL="0">
              <a:buNone/>
            </a:pPr>
            <a:r>
              <a:rPr lang="en-US" sz="1250" dirty="0">
                <a:solidFill>
                  <a:srgbClr val="C8C6C4"/>
                </a:solidFill>
                <a:latin typeface="Segoe UI" pitchFamily="34" charset="0"/>
                <a:ea typeface="Segoe UI" pitchFamily="34" charset="-122"/>
                <a:cs typeface="Segoe UI" pitchFamily="34" charset="-120"/>
              </a:rPr>
              <a:t>Buckets the document into a known category.</a:t>
            </a:r>
            <a:endParaRPr lang="en-US" sz="1250" dirty="0"/>
          </a:p>
        </p:txBody>
      </p:sp>
      <p:sp>
        <p:nvSpPr>
          <p:cNvPr id="18" name="Shape 14"/>
          <p:cNvSpPr/>
          <p:nvPr/>
        </p:nvSpPr>
        <p:spPr>
          <a:xfrm>
            <a:off x="4617720" y="4572000"/>
            <a:ext cx="2926080" cy="0"/>
          </a:xfrm>
          <a:prstGeom prst="line">
            <a:avLst/>
          </a:prstGeom>
          <a:noFill/>
          <a:ln w="12700">
            <a:solidFill>
              <a:srgbClr val="3B3A39"/>
            </a:solidFill>
            <a:prstDash val="solid"/>
          </a:ln>
        </p:spPr>
      </p:sp>
      <p:sp>
        <p:nvSpPr>
          <p:cNvPr id="19" name="Text 15"/>
          <p:cNvSpPr/>
          <p:nvPr/>
        </p:nvSpPr>
        <p:spPr>
          <a:xfrm>
            <a:off x="4617720" y="4709160"/>
            <a:ext cx="2926080" cy="228600"/>
          </a:xfrm>
          <a:prstGeom prst="rect">
            <a:avLst/>
          </a:prstGeom>
          <a:noFill/>
          <a:ln/>
        </p:spPr>
        <p:txBody>
          <a:bodyPr wrap="square" lIns="0" tIns="0" rIns="0" bIns="0" rtlCol="0" anchor="ctr"/>
          <a:lstStyle/>
          <a:p>
            <a:pPr indent="0" marL="0">
              <a:buNone/>
            </a:pPr>
            <a:r>
              <a:rPr lang="en-US" sz="900" b="1" spc="100" kern="0" dirty="0">
                <a:solidFill>
                  <a:srgbClr val="50E6FF"/>
                </a:solidFill>
                <a:latin typeface="Segoe UI" pitchFamily="34" charset="0"/>
                <a:ea typeface="Segoe UI" pitchFamily="34" charset="-122"/>
                <a:cs typeface="Segoe UI" pitchFamily="34" charset="-120"/>
              </a:rPr>
              <a:t>EXAMPLE FIELDS</a:t>
            </a:r>
            <a:endParaRPr lang="en-US" sz="900" dirty="0"/>
          </a:p>
        </p:txBody>
      </p:sp>
      <p:sp>
        <p:nvSpPr>
          <p:cNvPr id="20" name="Text 16"/>
          <p:cNvSpPr/>
          <p:nvPr/>
        </p:nvSpPr>
        <p:spPr>
          <a:xfrm>
            <a:off x="4617720" y="4937760"/>
            <a:ext cx="2926080" cy="640080"/>
          </a:xfrm>
          <a:prstGeom prst="rect">
            <a:avLst/>
          </a:prstGeom>
          <a:noFill/>
          <a:ln/>
        </p:spPr>
        <p:txBody>
          <a:bodyPr wrap="square" lIns="0" tIns="0" rIns="0" bIns="0" rtlCol="0" anchor="ctr"/>
          <a:lstStyle/>
          <a:p>
            <a:pPr indent="0" marL="0">
              <a:buNone/>
            </a:pPr>
            <a:r>
              <a:rPr lang="en-US" sz="1050" dirty="0">
                <a:solidFill>
                  <a:srgbClr val="F3F2F1"/>
                </a:solidFill>
                <a:latin typeface="Consolas" pitchFamily="34" charset="0"/>
                <a:ea typeface="Consolas" pitchFamily="34" charset="-122"/>
                <a:cs typeface="Consolas" pitchFamily="34" charset="-120"/>
              </a:rPr>
              <a:t>DocumentType: Referral, Invoice, LabResult...</a:t>
            </a:r>
            <a:endParaRPr lang="en-US" sz="1050" dirty="0"/>
          </a:p>
        </p:txBody>
      </p:sp>
      <p:sp>
        <p:nvSpPr>
          <p:cNvPr id="21" name="Shape 17"/>
          <p:cNvSpPr/>
          <p:nvPr/>
        </p:nvSpPr>
        <p:spPr>
          <a:xfrm>
            <a:off x="8138160" y="2148840"/>
            <a:ext cx="3474720" cy="3566160"/>
          </a:xfrm>
          <a:prstGeom prst="roundRect">
            <a:avLst>
              <a:gd name="adj" fmla="val 1579"/>
            </a:avLst>
          </a:prstGeom>
          <a:solidFill>
            <a:srgbClr val="252423"/>
          </a:solidFill>
          <a:ln w="19050">
            <a:solidFill>
              <a:srgbClr val="107C10"/>
            </a:solidFill>
            <a:prstDash val="solid"/>
          </a:ln>
        </p:spPr>
      </p:sp>
      <p:sp>
        <p:nvSpPr>
          <p:cNvPr id="22" name="Shape 18"/>
          <p:cNvSpPr/>
          <p:nvPr/>
        </p:nvSpPr>
        <p:spPr>
          <a:xfrm>
            <a:off x="8412480" y="2468880"/>
            <a:ext cx="685800" cy="685800"/>
          </a:xfrm>
          <a:prstGeom prst="ellipse">
            <a:avLst/>
          </a:prstGeom>
          <a:solidFill>
            <a:srgbClr val="107C10"/>
          </a:solidFill>
          <a:ln/>
        </p:spPr>
      </p:sp>
      <p:pic>
        <p:nvPicPr>
          <p:cNvPr id="23" name="Image 2" descr="preencoded.png">    </p:cNvPr>
          <p:cNvPicPr>
            <a:picLocks noChangeAspect="1"/>
          </p:cNvPicPr>
          <p:nvPr/>
        </p:nvPicPr>
        <p:blipFill>
          <a:blip r:embed="rId3"/>
          <a:stretch>
            <a:fillRect/>
          </a:stretch>
        </p:blipFill>
        <p:spPr>
          <a:xfrm>
            <a:off x="8577072" y="2633472"/>
            <a:ext cx="356616" cy="356616"/>
          </a:xfrm>
          <a:prstGeom prst="rect">
            <a:avLst/>
          </a:prstGeom>
        </p:spPr>
      </p:pic>
      <p:sp>
        <p:nvSpPr>
          <p:cNvPr id="24" name="Text 19"/>
          <p:cNvSpPr/>
          <p:nvPr/>
        </p:nvSpPr>
        <p:spPr>
          <a:xfrm>
            <a:off x="8412480" y="3337560"/>
            <a:ext cx="2926080" cy="411480"/>
          </a:xfrm>
          <a:prstGeom prst="rect">
            <a:avLst/>
          </a:prstGeom>
          <a:noFill/>
          <a:ln/>
        </p:spPr>
        <p:txBody>
          <a:bodyPr wrap="square" lIns="0" tIns="0" rIns="0" bIns="0" rtlCol="0" anchor="ctr"/>
          <a:lstStyle/>
          <a:p>
            <a:pPr indent="0" marL="0">
              <a:buNone/>
            </a:pPr>
            <a:r>
              <a:rPr lang="en-US" sz="2000" b="1" dirty="0">
                <a:solidFill>
                  <a:srgbClr val="F3F2F1"/>
                </a:solidFill>
                <a:latin typeface="Segoe UI Semibold" pitchFamily="34" charset="0"/>
                <a:ea typeface="Segoe UI Semibold" pitchFamily="34" charset="-122"/>
                <a:cs typeface="Segoe UI Semibold" pitchFamily="34" charset="-120"/>
              </a:rPr>
              <a:t>Generate</a:t>
            </a:r>
            <a:endParaRPr lang="en-US" sz="2000" dirty="0"/>
          </a:p>
        </p:txBody>
      </p:sp>
      <p:sp>
        <p:nvSpPr>
          <p:cNvPr id="25" name="Text 20"/>
          <p:cNvSpPr/>
          <p:nvPr/>
        </p:nvSpPr>
        <p:spPr>
          <a:xfrm>
            <a:off x="8412480" y="3794760"/>
            <a:ext cx="2926080" cy="731520"/>
          </a:xfrm>
          <a:prstGeom prst="rect">
            <a:avLst/>
          </a:prstGeom>
          <a:noFill/>
          <a:ln/>
        </p:spPr>
        <p:txBody>
          <a:bodyPr wrap="square" lIns="0" tIns="0" rIns="0" bIns="0" rtlCol="0" anchor="ctr"/>
          <a:lstStyle/>
          <a:p>
            <a:pPr indent="0" marL="0">
              <a:buNone/>
            </a:pPr>
            <a:r>
              <a:rPr lang="en-US" sz="1250" dirty="0">
                <a:solidFill>
                  <a:srgbClr val="C8C6C4"/>
                </a:solidFill>
                <a:latin typeface="Segoe UI" pitchFamily="34" charset="0"/>
                <a:ea typeface="Segoe UI" pitchFamily="34" charset="-122"/>
                <a:cs typeface="Segoe UI" pitchFamily="34" charset="-120"/>
              </a:rPr>
              <a:t>Uses the model to synthesize an answer that isn't a literal excerpt.</a:t>
            </a:r>
            <a:endParaRPr lang="en-US" sz="1250" dirty="0"/>
          </a:p>
        </p:txBody>
      </p:sp>
      <p:sp>
        <p:nvSpPr>
          <p:cNvPr id="26" name="Shape 21"/>
          <p:cNvSpPr/>
          <p:nvPr/>
        </p:nvSpPr>
        <p:spPr>
          <a:xfrm>
            <a:off x="8412480" y="4572000"/>
            <a:ext cx="2926080" cy="0"/>
          </a:xfrm>
          <a:prstGeom prst="line">
            <a:avLst/>
          </a:prstGeom>
          <a:noFill/>
          <a:ln w="12700">
            <a:solidFill>
              <a:srgbClr val="3B3A39"/>
            </a:solidFill>
            <a:prstDash val="solid"/>
          </a:ln>
        </p:spPr>
      </p:sp>
      <p:sp>
        <p:nvSpPr>
          <p:cNvPr id="27" name="Text 22"/>
          <p:cNvSpPr/>
          <p:nvPr/>
        </p:nvSpPr>
        <p:spPr>
          <a:xfrm>
            <a:off x="8412480" y="4709160"/>
            <a:ext cx="2926080" cy="228600"/>
          </a:xfrm>
          <a:prstGeom prst="rect">
            <a:avLst/>
          </a:prstGeom>
          <a:noFill/>
          <a:ln/>
        </p:spPr>
        <p:txBody>
          <a:bodyPr wrap="square" lIns="0" tIns="0" rIns="0" bIns="0" rtlCol="0" anchor="ctr"/>
          <a:lstStyle/>
          <a:p>
            <a:pPr indent="0" marL="0">
              <a:buNone/>
            </a:pPr>
            <a:r>
              <a:rPr lang="en-US" sz="900" b="1" spc="100" kern="0" dirty="0">
                <a:solidFill>
                  <a:srgbClr val="107C10"/>
                </a:solidFill>
                <a:latin typeface="Segoe UI" pitchFamily="34" charset="0"/>
                <a:ea typeface="Segoe UI" pitchFamily="34" charset="-122"/>
                <a:cs typeface="Segoe UI" pitchFamily="34" charset="-120"/>
              </a:rPr>
              <a:t>EXAMPLE FIELDS</a:t>
            </a:r>
            <a:endParaRPr lang="en-US" sz="900" dirty="0"/>
          </a:p>
        </p:txBody>
      </p:sp>
      <p:sp>
        <p:nvSpPr>
          <p:cNvPr id="28" name="Text 23"/>
          <p:cNvSpPr/>
          <p:nvPr/>
        </p:nvSpPr>
        <p:spPr>
          <a:xfrm>
            <a:off x="8412480" y="4937760"/>
            <a:ext cx="2926080" cy="640080"/>
          </a:xfrm>
          <a:prstGeom prst="rect">
            <a:avLst/>
          </a:prstGeom>
          <a:noFill/>
          <a:ln/>
        </p:spPr>
        <p:txBody>
          <a:bodyPr wrap="square" lIns="0" tIns="0" rIns="0" bIns="0" rtlCol="0" anchor="ctr"/>
          <a:lstStyle/>
          <a:p>
            <a:pPr indent="0" marL="0">
              <a:buNone/>
            </a:pPr>
            <a:r>
              <a:rPr lang="en-US" sz="1050" dirty="0">
                <a:solidFill>
                  <a:srgbClr val="F3F2F1"/>
                </a:solidFill>
                <a:latin typeface="Consolas" pitchFamily="34" charset="0"/>
                <a:ea typeface="Consolas" pitchFamily="34" charset="-122"/>
                <a:cs typeface="Consolas" pitchFamily="34" charset="-120"/>
              </a:rPr>
              <a:t>Summary, ActionRequired, ActionDescription</a:t>
            </a:r>
            <a:endParaRPr lang="en-US" sz="1050" dirty="0"/>
          </a:p>
        </p:txBody>
      </p:sp>
      <p:sp>
        <p:nvSpPr>
          <p:cNvPr id="29" name="Text 24"/>
          <p:cNvSpPr/>
          <p:nvPr/>
        </p:nvSpPr>
        <p:spPr>
          <a:xfrm>
            <a:off x="457200" y="6419088"/>
            <a:ext cx="7315200" cy="274320"/>
          </a:xfrm>
          <a:prstGeom prst="rect">
            <a:avLst/>
          </a:prstGeom>
          <a:noFill/>
          <a:ln/>
        </p:spPr>
        <p:txBody>
          <a:bodyPr wrap="square" lIns="0" tIns="0" rIns="0" bIns="0" rtlCol="0" anchor="ctr"/>
          <a:lstStyle/>
          <a:p>
            <a:pPr indent="0" marL="0">
              <a:buNone/>
            </a:pPr>
            <a:r>
              <a:rPr lang="en-US" sz="900" dirty="0">
                <a:solidFill>
                  <a:srgbClr val="8A8886"/>
                </a:solidFill>
                <a:latin typeface="Segoe UI" pitchFamily="34" charset="0"/>
                <a:ea typeface="Segoe UI" pitchFamily="34" charset="-122"/>
                <a:cs typeface="Segoe UI" pitchFamily="34" charset="-120"/>
              </a:rPr>
              <a:t>Fax Ingest &amp; Extraction with Azure Content Understanding</a:t>
            </a:r>
            <a:endParaRPr lang="en-US" sz="900" dirty="0"/>
          </a:p>
        </p:txBody>
      </p:sp>
      <p:sp>
        <p:nvSpPr>
          <p:cNvPr id="30" name="Text 25"/>
          <p:cNvSpPr/>
          <p:nvPr/>
        </p:nvSpPr>
        <p:spPr>
          <a:xfrm>
            <a:off x="11247120" y="6419088"/>
            <a:ext cx="457200" cy="274320"/>
          </a:xfrm>
          <a:prstGeom prst="rect">
            <a:avLst/>
          </a:prstGeom>
          <a:noFill/>
          <a:ln/>
        </p:spPr>
        <p:txBody>
          <a:bodyPr wrap="square" lIns="0" tIns="0" rIns="0" bIns="0" rtlCol="0" anchor="ctr"/>
          <a:lstStyle/>
          <a:p>
            <a:pPr algn="r" indent="0" marL="0">
              <a:buNone/>
            </a:pPr>
            <a:r>
              <a:rPr lang="en-US" sz="900" dirty="0">
                <a:solidFill>
                  <a:srgbClr val="8A8886"/>
                </a:solidFill>
                <a:latin typeface="Segoe UI" pitchFamily="34" charset="0"/>
                <a:ea typeface="Segoe UI" pitchFamily="34" charset="-122"/>
                <a:cs typeface="Segoe U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1A19"/>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50E6FF"/>
                </a:solidFill>
                <a:latin typeface="Segoe UI" pitchFamily="34" charset="0"/>
                <a:ea typeface="Segoe UI" pitchFamily="34" charset="-122"/>
                <a:cs typeface="Segoe UI" pitchFamily="34" charset="-120"/>
              </a:rPr>
              <a:t>IMPACT</a:t>
            </a:r>
            <a:endParaRPr lang="en-US" sz="1300" dirty="0"/>
          </a:p>
        </p:txBody>
      </p:sp>
      <p:sp>
        <p:nvSpPr>
          <p:cNvPr id="3" name="Text 1"/>
          <p:cNvSpPr/>
          <p:nvPr/>
        </p:nvSpPr>
        <p:spPr>
          <a:xfrm>
            <a:off x="548640" y="658368"/>
            <a:ext cx="10515600" cy="777240"/>
          </a:xfrm>
          <a:prstGeom prst="rect">
            <a:avLst/>
          </a:prstGeom>
          <a:noFill/>
          <a:ln/>
        </p:spPr>
        <p:txBody>
          <a:bodyPr wrap="square" lIns="0" tIns="0" rIns="0" bIns="0" rtlCol="0" anchor="ctr"/>
          <a:lstStyle/>
          <a:p>
            <a:pPr indent="0" marL="0">
              <a:buNone/>
            </a:pPr>
            <a:r>
              <a:rPr lang="en-US" sz="3200" b="1" dirty="0">
                <a:solidFill>
                  <a:srgbClr val="F3F2F1"/>
                </a:solidFill>
                <a:latin typeface="Segoe UI Semibold" pitchFamily="34" charset="0"/>
                <a:ea typeface="Segoe UI Semibold" pitchFamily="34" charset="-122"/>
                <a:cs typeface="Segoe UI Semibold" pitchFamily="34" charset="-120"/>
              </a:rPr>
              <a:t>Benefits at a glance</a:t>
            </a:r>
            <a:endParaRPr lang="en-US" sz="3200" dirty="0"/>
          </a:p>
        </p:txBody>
      </p:sp>
      <p:sp>
        <p:nvSpPr>
          <p:cNvPr id="4" name="Shape 2"/>
          <p:cNvSpPr/>
          <p:nvPr/>
        </p:nvSpPr>
        <p:spPr>
          <a:xfrm>
            <a:off x="548640" y="1691640"/>
            <a:ext cx="3474720" cy="2148840"/>
          </a:xfrm>
          <a:prstGeom prst="roundRect">
            <a:avLst>
              <a:gd name="adj" fmla="val 2553"/>
            </a:avLst>
          </a:prstGeom>
          <a:solidFill>
            <a:srgbClr val="252423"/>
          </a:solidFill>
          <a:ln/>
        </p:spPr>
      </p:sp>
      <p:pic>
        <p:nvPicPr>
          <p:cNvPr id="5" name="Image 0" descr="preencoded.png">    </p:cNvPr>
          <p:cNvPicPr>
            <a:picLocks noChangeAspect="1"/>
          </p:cNvPicPr>
          <p:nvPr/>
        </p:nvPicPr>
        <p:blipFill>
          <a:blip r:embed="rId1"/>
          <a:stretch>
            <a:fillRect/>
          </a:stretch>
        </p:blipFill>
        <p:spPr>
          <a:xfrm>
            <a:off x="822960" y="1947672"/>
            <a:ext cx="457200" cy="457200"/>
          </a:xfrm>
          <a:prstGeom prst="rect">
            <a:avLst/>
          </a:prstGeom>
        </p:spPr>
      </p:pic>
      <p:sp>
        <p:nvSpPr>
          <p:cNvPr id="6" name="Text 3"/>
          <p:cNvSpPr/>
          <p:nvPr/>
        </p:nvSpPr>
        <p:spPr>
          <a:xfrm>
            <a:off x="822960" y="2404872"/>
            <a:ext cx="2926080" cy="594360"/>
          </a:xfrm>
          <a:prstGeom prst="rect">
            <a:avLst/>
          </a:prstGeom>
          <a:noFill/>
          <a:ln/>
        </p:spPr>
        <p:txBody>
          <a:bodyPr wrap="square" lIns="0" tIns="0" rIns="0" bIns="0" rtlCol="0" anchor="ctr"/>
          <a:lstStyle/>
          <a:p>
            <a:pPr indent="0" marL="0">
              <a:buNone/>
            </a:pPr>
            <a:r>
              <a:rPr lang="en-US" sz="3200" b="1" dirty="0">
                <a:solidFill>
                  <a:srgbClr val="FFFFFF"/>
                </a:solidFill>
                <a:latin typeface="Segoe UI Semibold" pitchFamily="34" charset="0"/>
                <a:ea typeface="Segoe UI Semibold" pitchFamily="34" charset="-122"/>
                <a:cs typeface="Segoe UI Semibold" pitchFamily="34" charset="-120"/>
              </a:rPr>
              <a:t>Minutes</a:t>
            </a:r>
            <a:endParaRPr lang="en-US" sz="3200" dirty="0"/>
          </a:p>
        </p:txBody>
      </p:sp>
      <p:sp>
        <p:nvSpPr>
          <p:cNvPr id="7" name="Text 4"/>
          <p:cNvSpPr/>
          <p:nvPr/>
        </p:nvSpPr>
        <p:spPr>
          <a:xfrm>
            <a:off x="822960" y="2971800"/>
            <a:ext cx="2926080" cy="777240"/>
          </a:xfrm>
          <a:prstGeom prst="rect">
            <a:avLst/>
          </a:prstGeom>
          <a:noFill/>
          <a:ln/>
        </p:spPr>
        <p:txBody>
          <a:bodyPr wrap="square" lIns="0" tIns="0" rIns="0" bIns="0" rtlCol="0" anchor="ctr"/>
          <a:lstStyle/>
          <a:p>
            <a:pPr indent="0" marL="0">
              <a:buNone/>
            </a:pPr>
            <a:r>
              <a:rPr lang="en-US" sz="1150" dirty="0">
                <a:solidFill>
                  <a:srgbClr val="C8C6C4"/>
                </a:solidFill>
                <a:latin typeface="Segoe UI" pitchFamily="34" charset="0"/>
                <a:ea typeface="Segoe UI" pitchFamily="34" charset="-122"/>
                <a:cs typeface="Segoe UI" pitchFamily="34" charset="-120"/>
              </a:rPr>
              <a:t>Typical time from fax arrival to structured JSON output, vs. hours in a manual queue</a:t>
            </a:r>
            <a:endParaRPr lang="en-US" sz="1150" dirty="0"/>
          </a:p>
        </p:txBody>
      </p:sp>
      <p:sp>
        <p:nvSpPr>
          <p:cNvPr id="8" name="Shape 5"/>
          <p:cNvSpPr/>
          <p:nvPr/>
        </p:nvSpPr>
        <p:spPr>
          <a:xfrm>
            <a:off x="4343400" y="1691640"/>
            <a:ext cx="3474720" cy="2148840"/>
          </a:xfrm>
          <a:prstGeom prst="roundRect">
            <a:avLst>
              <a:gd name="adj" fmla="val 2553"/>
            </a:avLst>
          </a:prstGeom>
          <a:solidFill>
            <a:srgbClr val="252423"/>
          </a:solidFill>
          <a:ln/>
        </p:spPr>
      </p:sp>
      <p:pic>
        <p:nvPicPr>
          <p:cNvPr id="9" name="Image 1" descr="preencoded.png">    </p:cNvPr>
          <p:cNvPicPr>
            <a:picLocks noChangeAspect="1"/>
          </p:cNvPicPr>
          <p:nvPr/>
        </p:nvPicPr>
        <p:blipFill>
          <a:blip r:embed="rId2"/>
          <a:stretch>
            <a:fillRect/>
          </a:stretch>
        </p:blipFill>
        <p:spPr>
          <a:xfrm>
            <a:off x="4617720" y="1947672"/>
            <a:ext cx="457200" cy="457200"/>
          </a:xfrm>
          <a:prstGeom prst="rect">
            <a:avLst/>
          </a:prstGeom>
        </p:spPr>
      </p:pic>
      <p:sp>
        <p:nvSpPr>
          <p:cNvPr id="10" name="Text 6"/>
          <p:cNvSpPr/>
          <p:nvPr/>
        </p:nvSpPr>
        <p:spPr>
          <a:xfrm>
            <a:off x="4617720" y="2404872"/>
            <a:ext cx="2926080" cy="594360"/>
          </a:xfrm>
          <a:prstGeom prst="rect">
            <a:avLst/>
          </a:prstGeom>
          <a:noFill/>
          <a:ln/>
        </p:spPr>
        <p:txBody>
          <a:bodyPr wrap="square" lIns="0" tIns="0" rIns="0" bIns="0" rtlCol="0" anchor="ctr"/>
          <a:lstStyle/>
          <a:p>
            <a:pPr indent="0" marL="0">
              <a:buNone/>
            </a:pPr>
            <a:r>
              <a:rPr lang="en-US" sz="3200" b="1" dirty="0">
                <a:solidFill>
                  <a:srgbClr val="FFFFFF"/>
                </a:solidFill>
                <a:latin typeface="Segoe UI Semibold" pitchFamily="34" charset="0"/>
                <a:ea typeface="Segoe UI Semibold" pitchFamily="34" charset="-122"/>
                <a:cs typeface="Segoe UI Semibold" pitchFamily="34" charset="-120"/>
              </a:rPr>
              <a:t>0</a:t>
            </a:r>
            <a:endParaRPr lang="en-US" sz="3200" dirty="0"/>
          </a:p>
        </p:txBody>
      </p:sp>
      <p:sp>
        <p:nvSpPr>
          <p:cNvPr id="11" name="Text 7"/>
          <p:cNvSpPr/>
          <p:nvPr/>
        </p:nvSpPr>
        <p:spPr>
          <a:xfrm>
            <a:off x="4617720" y="2971800"/>
            <a:ext cx="2926080" cy="777240"/>
          </a:xfrm>
          <a:prstGeom prst="rect">
            <a:avLst/>
          </a:prstGeom>
          <a:noFill/>
          <a:ln/>
        </p:spPr>
        <p:txBody>
          <a:bodyPr wrap="square" lIns="0" tIns="0" rIns="0" bIns="0" rtlCol="0" anchor="ctr"/>
          <a:lstStyle/>
          <a:p>
            <a:pPr indent="0" marL="0">
              <a:buNone/>
            </a:pPr>
            <a:r>
              <a:rPr lang="en-US" sz="1150" dirty="0">
                <a:solidFill>
                  <a:srgbClr val="C8C6C4"/>
                </a:solidFill>
                <a:latin typeface="Segoe UI" pitchFamily="34" charset="0"/>
                <a:ea typeface="Segoe UI" pitchFamily="34" charset="-122"/>
                <a:cs typeface="Segoe UI" pitchFamily="34" charset="-120"/>
              </a:rPr>
              <a:t>Lines of custom application code to maintain — every step is a managed Azure service</a:t>
            </a:r>
            <a:endParaRPr lang="en-US" sz="1150" dirty="0"/>
          </a:p>
        </p:txBody>
      </p:sp>
      <p:sp>
        <p:nvSpPr>
          <p:cNvPr id="12" name="Shape 8"/>
          <p:cNvSpPr/>
          <p:nvPr/>
        </p:nvSpPr>
        <p:spPr>
          <a:xfrm>
            <a:off x="8138160" y="1691640"/>
            <a:ext cx="3474720" cy="2148840"/>
          </a:xfrm>
          <a:prstGeom prst="roundRect">
            <a:avLst>
              <a:gd name="adj" fmla="val 2553"/>
            </a:avLst>
          </a:prstGeom>
          <a:solidFill>
            <a:srgbClr val="252423"/>
          </a:solidFill>
          <a:ln/>
        </p:spPr>
      </p:sp>
      <p:pic>
        <p:nvPicPr>
          <p:cNvPr id="13" name="Image 2" descr="preencoded.png">    </p:cNvPr>
          <p:cNvPicPr>
            <a:picLocks noChangeAspect="1"/>
          </p:cNvPicPr>
          <p:nvPr/>
        </p:nvPicPr>
        <p:blipFill>
          <a:blip r:embed="rId3"/>
          <a:stretch>
            <a:fillRect/>
          </a:stretch>
        </p:blipFill>
        <p:spPr>
          <a:xfrm>
            <a:off x="8412480" y="1947672"/>
            <a:ext cx="457200" cy="457200"/>
          </a:xfrm>
          <a:prstGeom prst="rect">
            <a:avLst/>
          </a:prstGeom>
        </p:spPr>
      </p:pic>
      <p:sp>
        <p:nvSpPr>
          <p:cNvPr id="14" name="Text 9"/>
          <p:cNvSpPr/>
          <p:nvPr/>
        </p:nvSpPr>
        <p:spPr>
          <a:xfrm>
            <a:off x="8412480" y="2404872"/>
            <a:ext cx="2926080" cy="594360"/>
          </a:xfrm>
          <a:prstGeom prst="rect">
            <a:avLst/>
          </a:prstGeom>
          <a:noFill/>
          <a:ln/>
        </p:spPr>
        <p:txBody>
          <a:bodyPr wrap="square" lIns="0" tIns="0" rIns="0" bIns="0" rtlCol="0" anchor="ctr"/>
          <a:lstStyle/>
          <a:p>
            <a:pPr indent="0" marL="0">
              <a:buNone/>
            </a:pPr>
            <a:r>
              <a:rPr lang="en-US" sz="3200" b="1" dirty="0">
                <a:solidFill>
                  <a:srgbClr val="FFFFFF"/>
                </a:solidFill>
                <a:latin typeface="Segoe UI Semibold" pitchFamily="34" charset="0"/>
                <a:ea typeface="Segoe UI Semibold" pitchFamily="34" charset="-122"/>
                <a:cs typeface="Segoe UI Semibold" pitchFamily="34" charset="-120"/>
              </a:rPr>
              <a:t>100%</a:t>
            </a:r>
            <a:endParaRPr lang="en-US" sz="3200" dirty="0"/>
          </a:p>
        </p:txBody>
      </p:sp>
      <p:sp>
        <p:nvSpPr>
          <p:cNvPr id="15" name="Text 10"/>
          <p:cNvSpPr/>
          <p:nvPr/>
        </p:nvSpPr>
        <p:spPr>
          <a:xfrm>
            <a:off x="8412480" y="2971800"/>
            <a:ext cx="2926080" cy="777240"/>
          </a:xfrm>
          <a:prstGeom prst="rect">
            <a:avLst/>
          </a:prstGeom>
          <a:noFill/>
          <a:ln/>
        </p:spPr>
        <p:txBody>
          <a:bodyPr wrap="square" lIns="0" tIns="0" rIns="0" bIns="0" rtlCol="0" anchor="ctr"/>
          <a:lstStyle/>
          <a:p>
            <a:pPr indent="0" marL="0">
              <a:buNone/>
            </a:pPr>
            <a:r>
              <a:rPr lang="en-US" sz="1150" dirty="0">
                <a:solidFill>
                  <a:srgbClr val="C8C6C4"/>
                </a:solidFill>
                <a:latin typeface="Segoe UI" pitchFamily="34" charset="0"/>
                <a:ea typeface="Segoe UI" pitchFamily="34" charset="-122"/>
                <a:cs typeface="Segoe UI" pitchFamily="34" charset="-120"/>
              </a:rPr>
              <a:t>Of requests authenticated via managed identity — no API keys stored in the workflow</a:t>
            </a:r>
            <a:endParaRPr lang="en-US" sz="1150" dirty="0"/>
          </a:p>
        </p:txBody>
      </p:sp>
      <p:sp>
        <p:nvSpPr>
          <p:cNvPr id="16" name="Text 11"/>
          <p:cNvSpPr/>
          <p:nvPr/>
        </p:nvSpPr>
        <p:spPr>
          <a:xfrm>
            <a:off x="548640" y="4114800"/>
            <a:ext cx="5486400" cy="274320"/>
          </a:xfrm>
          <a:prstGeom prst="rect">
            <a:avLst/>
          </a:prstGeom>
          <a:noFill/>
          <a:ln/>
        </p:spPr>
        <p:txBody>
          <a:bodyPr wrap="square" lIns="0" tIns="0" rIns="0" bIns="0" rtlCol="0" anchor="ctr"/>
          <a:lstStyle/>
          <a:p>
            <a:pPr indent="0" marL="0">
              <a:buNone/>
            </a:pPr>
            <a:r>
              <a:rPr lang="en-US" sz="1200" b="1" spc="200" kern="0" dirty="0">
                <a:solidFill>
                  <a:srgbClr val="50E6FF"/>
                </a:solidFill>
                <a:latin typeface="Segoe UI" pitchFamily="34" charset="0"/>
                <a:ea typeface="Segoe UI" pitchFamily="34" charset="-122"/>
                <a:cs typeface="Segoe UI" pitchFamily="34" charset="-120"/>
              </a:rPr>
              <a:t>WHAT THIS UNLOCKS</a:t>
            </a:r>
            <a:endParaRPr lang="en-US" sz="1200" dirty="0"/>
          </a:p>
        </p:txBody>
      </p:sp>
      <p:sp>
        <p:nvSpPr>
          <p:cNvPr id="17" name="Text 12"/>
          <p:cNvSpPr/>
          <p:nvPr/>
        </p:nvSpPr>
        <p:spPr>
          <a:xfrm>
            <a:off x="548640" y="4434840"/>
            <a:ext cx="10789920" cy="2103120"/>
          </a:xfrm>
          <a:prstGeom prst="rect">
            <a:avLst/>
          </a:prstGeom>
          <a:noFill/>
          <a:ln/>
        </p:spPr>
        <p:txBody>
          <a:bodyPr wrap="square" lIns="0" tIns="0" rIns="0" bIns="0" rtlCol="0" anchor="ctr"/>
          <a:lstStyle/>
          <a:p>
            <a:pPr marL="342900" indent="-342900">
              <a:spcAft>
                <a:spcPts val="1000"/>
              </a:spcAft>
              <a:buSzPct val="100000"/>
              <a:buChar char="●"/>
            </a:pPr>
            <a:r>
              <a:rPr lang="en-US" sz="1350" dirty="0">
                <a:solidFill>
                  <a:srgbClr val="F3F2F1"/>
                </a:solidFill>
                <a:latin typeface="Segoe UI" pitchFamily="34" charset="0"/>
                <a:ea typeface="Segoe UI" pitchFamily="34" charset="-122"/>
                <a:cs typeface="Segoe UI" pitchFamily="34" charset="-120"/>
              </a:rPr>
              <a:t>Faster response times for time-sensitive documents (referrals, orders, claims)</a:t>
            </a:r>
            <a:endParaRPr lang="en-US" sz="1350" dirty="0"/>
          </a:p>
          <a:p>
            <a:pPr marL="342900" indent="-342900">
              <a:spcAft>
                <a:spcPts val="1000"/>
              </a:spcAft>
              <a:buSzPct val="100000"/>
              <a:buChar char="●"/>
            </a:pPr>
            <a:r>
              <a:rPr lang="en-US" sz="1350" dirty="0">
                <a:solidFill>
                  <a:srgbClr val="F3F2F1"/>
                </a:solidFill>
                <a:latin typeface="Segoe UI" pitchFamily="34" charset="0"/>
                <a:ea typeface="Segoe UI" pitchFamily="34" charset="-122"/>
                <a:cs typeface="Segoe UI" pitchFamily="34" charset="-120"/>
              </a:rPr>
              <a:t>Consistent, structured data quality with confidence scores for triage</a:t>
            </a:r>
            <a:endParaRPr lang="en-US" sz="1350" dirty="0"/>
          </a:p>
          <a:p>
            <a:pPr marL="342900" indent="-342900">
              <a:spcAft>
                <a:spcPts val="1000"/>
              </a:spcAft>
              <a:buSzPct val="100000"/>
              <a:buChar char="●"/>
            </a:pPr>
            <a:r>
              <a:rPr lang="en-US" sz="1350" dirty="0">
                <a:solidFill>
                  <a:srgbClr val="F3F2F1"/>
                </a:solidFill>
                <a:latin typeface="Segoe UI" pitchFamily="34" charset="0"/>
                <a:ea typeface="Segoe UI" pitchFamily="34" charset="-122"/>
                <a:cs typeface="Segoe UI" pitchFamily="34" charset="-120"/>
              </a:rPr>
              <a:t>A clear audit trail: every source document, its extraction, and its outcome</a:t>
            </a:r>
            <a:endParaRPr lang="en-US" sz="1350" dirty="0"/>
          </a:p>
          <a:p>
            <a:pPr marL="342900" indent="-342900">
              <a:spcAft>
                <a:spcPts val="1000"/>
              </a:spcAft>
              <a:buSzPct val="100000"/>
              <a:buChar char="●"/>
            </a:pPr>
            <a:r>
              <a:rPr lang="en-US" sz="1350" dirty="0">
                <a:solidFill>
                  <a:srgbClr val="F3F2F1"/>
                </a:solidFill>
                <a:latin typeface="Segoe UI" pitchFamily="34" charset="0"/>
                <a:ea typeface="Segoe UI" pitchFamily="34" charset="-122"/>
                <a:cs typeface="Segoe UI" pitchFamily="34" charset="-120"/>
              </a:rPr>
              <a:t>A foundation to plug into downstream systems (CRM, EHR, ERP) without re-architecting</a:t>
            </a:r>
            <a:endParaRPr lang="en-US" sz="1350" dirty="0"/>
          </a:p>
        </p:txBody>
      </p:sp>
      <p:sp>
        <p:nvSpPr>
          <p:cNvPr id="18" name="Text 13"/>
          <p:cNvSpPr/>
          <p:nvPr/>
        </p:nvSpPr>
        <p:spPr>
          <a:xfrm>
            <a:off x="457200" y="6419088"/>
            <a:ext cx="7315200" cy="274320"/>
          </a:xfrm>
          <a:prstGeom prst="rect">
            <a:avLst/>
          </a:prstGeom>
          <a:noFill/>
          <a:ln/>
        </p:spPr>
        <p:txBody>
          <a:bodyPr wrap="square" lIns="0" tIns="0" rIns="0" bIns="0" rtlCol="0" anchor="ctr"/>
          <a:lstStyle/>
          <a:p>
            <a:pPr indent="0" marL="0">
              <a:buNone/>
            </a:pPr>
            <a:r>
              <a:rPr lang="en-US" sz="900" dirty="0">
                <a:solidFill>
                  <a:srgbClr val="8A8886"/>
                </a:solidFill>
                <a:latin typeface="Segoe UI" pitchFamily="34" charset="0"/>
                <a:ea typeface="Segoe UI" pitchFamily="34" charset="-122"/>
                <a:cs typeface="Segoe UI" pitchFamily="34" charset="-120"/>
              </a:rPr>
              <a:t>Fax Ingest &amp; Extraction with Azure Content Understanding</a:t>
            </a:r>
            <a:endParaRPr lang="en-US" sz="900" dirty="0"/>
          </a:p>
        </p:txBody>
      </p:sp>
      <p:sp>
        <p:nvSpPr>
          <p:cNvPr id="19" name="Text 14"/>
          <p:cNvSpPr/>
          <p:nvPr/>
        </p:nvSpPr>
        <p:spPr>
          <a:xfrm>
            <a:off x="11247120" y="6419088"/>
            <a:ext cx="457200" cy="274320"/>
          </a:xfrm>
          <a:prstGeom prst="rect">
            <a:avLst/>
          </a:prstGeom>
          <a:noFill/>
          <a:ln/>
        </p:spPr>
        <p:txBody>
          <a:bodyPr wrap="square" lIns="0" tIns="0" rIns="0" bIns="0" rtlCol="0" anchor="ctr"/>
          <a:lstStyle/>
          <a:p>
            <a:pPr algn="r" indent="0" marL="0">
              <a:buNone/>
            </a:pPr>
            <a:r>
              <a:rPr lang="en-US" sz="900" dirty="0">
                <a:solidFill>
                  <a:srgbClr val="8A8886"/>
                </a:solidFill>
                <a:latin typeface="Segoe UI" pitchFamily="34" charset="0"/>
                <a:ea typeface="Segoe UI" pitchFamily="34" charset="-122"/>
                <a:cs typeface="Segoe U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1A19"/>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50E6FF"/>
                </a:solidFill>
                <a:latin typeface="Segoe UI" pitchFamily="34" charset="0"/>
                <a:ea typeface="Segoe UI" pitchFamily="34" charset="-122"/>
                <a:cs typeface="Segoe UI" pitchFamily="34" charset="-120"/>
              </a:rPr>
              <a:t>NEXT STEPS</a:t>
            </a:r>
            <a:endParaRPr lang="en-US" sz="1300" dirty="0"/>
          </a:p>
        </p:txBody>
      </p:sp>
      <p:sp>
        <p:nvSpPr>
          <p:cNvPr id="3" name="Text 1"/>
          <p:cNvSpPr/>
          <p:nvPr/>
        </p:nvSpPr>
        <p:spPr>
          <a:xfrm>
            <a:off x="548640" y="658368"/>
            <a:ext cx="10515600" cy="777240"/>
          </a:xfrm>
          <a:prstGeom prst="rect">
            <a:avLst/>
          </a:prstGeom>
          <a:noFill/>
          <a:ln/>
        </p:spPr>
        <p:txBody>
          <a:bodyPr wrap="square" lIns="0" tIns="0" rIns="0" bIns="0" rtlCol="0" anchor="ctr"/>
          <a:lstStyle/>
          <a:p>
            <a:pPr indent="0" marL="0">
              <a:buNone/>
            </a:pPr>
            <a:r>
              <a:rPr lang="en-US" sz="3200" b="1" dirty="0">
                <a:solidFill>
                  <a:srgbClr val="F3F2F1"/>
                </a:solidFill>
                <a:latin typeface="Segoe UI Semibold" pitchFamily="34" charset="0"/>
                <a:ea typeface="Segoe UI Semibold" pitchFamily="34" charset="-122"/>
                <a:cs typeface="Segoe UI Semibold" pitchFamily="34" charset="-120"/>
              </a:rPr>
              <a:t>From demo to production</a:t>
            </a:r>
            <a:endParaRPr lang="en-US" sz="3200" dirty="0"/>
          </a:p>
        </p:txBody>
      </p:sp>
      <p:sp>
        <p:nvSpPr>
          <p:cNvPr id="4" name="Shape 2"/>
          <p:cNvSpPr/>
          <p:nvPr/>
        </p:nvSpPr>
        <p:spPr>
          <a:xfrm>
            <a:off x="548640" y="1600200"/>
            <a:ext cx="548640" cy="548640"/>
          </a:xfrm>
          <a:prstGeom prst="ellipse">
            <a:avLst/>
          </a:prstGeom>
          <a:solidFill>
            <a:srgbClr val="0078D4"/>
          </a:solidFill>
          <a:ln/>
        </p:spPr>
      </p:sp>
      <p:pic>
        <p:nvPicPr>
          <p:cNvPr id="5" name="Image 0" descr="preencoded.png">    </p:cNvPr>
          <p:cNvPicPr>
            <a:picLocks noChangeAspect="1"/>
          </p:cNvPicPr>
          <p:nvPr/>
        </p:nvPicPr>
        <p:blipFill>
          <a:blip r:embed="rId1"/>
          <a:stretch>
            <a:fillRect/>
          </a:stretch>
        </p:blipFill>
        <p:spPr>
          <a:xfrm>
            <a:off x="680314" y="1731874"/>
            <a:ext cx="285293" cy="285293"/>
          </a:xfrm>
          <a:prstGeom prst="rect">
            <a:avLst/>
          </a:prstGeom>
        </p:spPr>
      </p:pic>
      <p:sp>
        <p:nvSpPr>
          <p:cNvPr id="6" name="Text 3"/>
          <p:cNvSpPr/>
          <p:nvPr/>
        </p:nvSpPr>
        <p:spPr>
          <a:xfrm>
            <a:off x="1280160" y="1691640"/>
            <a:ext cx="10058400" cy="457200"/>
          </a:xfrm>
          <a:prstGeom prst="rect">
            <a:avLst/>
          </a:prstGeom>
          <a:noFill/>
          <a:ln/>
        </p:spPr>
        <p:txBody>
          <a:bodyPr wrap="square" lIns="0" tIns="0" rIns="0" bIns="0" rtlCol="0" anchor="ctr"/>
          <a:lstStyle/>
          <a:p>
            <a:pPr indent="0" marL="0">
              <a:buNone/>
            </a:pPr>
            <a:r>
              <a:rPr lang="en-US" sz="1400" dirty="0">
                <a:solidFill>
                  <a:srgbClr val="C8C6C4"/>
                </a:solidFill>
                <a:latin typeface="Segoe UI" pitchFamily="34" charset="0"/>
                <a:ea typeface="Segoe UI" pitchFamily="34" charset="-122"/>
                <a:cs typeface="Segoe UI" pitchFamily="34" charset="-120"/>
              </a:rPr>
              <a:t>This demo is intentionally scoped to the core ingest → extract → deliver pattern. A production rollout typically adds:</a:t>
            </a:r>
            <a:endParaRPr lang="en-US" sz="1400" dirty="0"/>
          </a:p>
        </p:txBody>
      </p:sp>
      <p:sp>
        <p:nvSpPr>
          <p:cNvPr id="7" name="Shape 4"/>
          <p:cNvSpPr/>
          <p:nvPr/>
        </p:nvSpPr>
        <p:spPr>
          <a:xfrm>
            <a:off x="548640" y="2423160"/>
            <a:ext cx="5212080" cy="1508760"/>
          </a:xfrm>
          <a:prstGeom prst="roundRect">
            <a:avLst>
              <a:gd name="adj" fmla="val 3636"/>
            </a:avLst>
          </a:prstGeom>
          <a:solidFill>
            <a:srgbClr val="252423"/>
          </a:solidFill>
          <a:ln w="12700">
            <a:solidFill>
              <a:srgbClr val="3B3A39"/>
            </a:solidFill>
            <a:prstDash val="solid"/>
          </a:ln>
        </p:spPr>
      </p:sp>
      <p:sp>
        <p:nvSpPr>
          <p:cNvPr id="8" name="Shape 5"/>
          <p:cNvSpPr/>
          <p:nvPr/>
        </p:nvSpPr>
        <p:spPr>
          <a:xfrm>
            <a:off x="548640" y="2423160"/>
            <a:ext cx="73152" cy="1508760"/>
          </a:xfrm>
          <a:prstGeom prst="rect">
            <a:avLst/>
          </a:prstGeom>
          <a:solidFill>
            <a:srgbClr val="50E6FF"/>
          </a:solidFill>
          <a:ln/>
        </p:spPr>
      </p:sp>
      <p:sp>
        <p:nvSpPr>
          <p:cNvPr id="9" name="Text 6"/>
          <p:cNvSpPr/>
          <p:nvPr/>
        </p:nvSpPr>
        <p:spPr>
          <a:xfrm>
            <a:off x="822960" y="2606040"/>
            <a:ext cx="4663440" cy="365760"/>
          </a:xfrm>
          <a:prstGeom prst="rect">
            <a:avLst/>
          </a:prstGeom>
          <a:noFill/>
          <a:ln/>
        </p:spPr>
        <p:txBody>
          <a:bodyPr wrap="square" lIns="0" tIns="0" rIns="0" bIns="0" rtlCol="0" anchor="ctr"/>
          <a:lstStyle/>
          <a:p>
            <a:pPr indent="0" marL="0">
              <a:buNone/>
            </a:pPr>
            <a:r>
              <a:rPr lang="en-US" sz="1500" b="1" dirty="0">
                <a:solidFill>
                  <a:srgbClr val="F3F2F1"/>
                </a:solidFill>
                <a:latin typeface="Segoe UI Semibold" pitchFamily="34" charset="0"/>
                <a:ea typeface="Segoe UI Semibold" pitchFamily="34" charset="-122"/>
                <a:cs typeface="Segoe UI Semibold" pitchFamily="34" charset="-120"/>
              </a:rPr>
              <a:t>Event Grid trigger</a:t>
            </a:r>
            <a:endParaRPr lang="en-US" sz="1500" dirty="0"/>
          </a:p>
        </p:txBody>
      </p:sp>
      <p:sp>
        <p:nvSpPr>
          <p:cNvPr id="10" name="Text 7"/>
          <p:cNvSpPr/>
          <p:nvPr/>
        </p:nvSpPr>
        <p:spPr>
          <a:xfrm>
            <a:off x="822960" y="3017520"/>
            <a:ext cx="4663440" cy="914400"/>
          </a:xfrm>
          <a:prstGeom prst="rect">
            <a:avLst/>
          </a:prstGeom>
          <a:noFill/>
          <a:ln/>
        </p:spPr>
        <p:txBody>
          <a:bodyPr wrap="square" lIns="0" tIns="0" rIns="0" bIns="0" rtlCol="0" anchor="ctr"/>
          <a:lstStyle/>
          <a:p>
            <a:pPr indent="0" marL="0">
              <a:buNone/>
            </a:pPr>
            <a:r>
              <a:rPr lang="en-US" sz="1200" dirty="0">
                <a:solidFill>
                  <a:srgbClr val="C8C6C4"/>
                </a:solidFill>
                <a:latin typeface="Segoe UI" pitchFamily="34" charset="0"/>
                <a:ea typeface="Segoe UI" pitchFamily="34" charset="-122"/>
                <a:cs typeface="Segoe UI" pitchFamily="34" charset="-120"/>
              </a:rPr>
              <a:t>Replace the ~1-minute polling blob trigger with an event-driven trigger for near-instant (sub-second) pickup.</a:t>
            </a:r>
            <a:endParaRPr lang="en-US" sz="1200" dirty="0"/>
          </a:p>
        </p:txBody>
      </p:sp>
      <p:sp>
        <p:nvSpPr>
          <p:cNvPr id="11" name="Shape 8"/>
          <p:cNvSpPr/>
          <p:nvPr/>
        </p:nvSpPr>
        <p:spPr>
          <a:xfrm>
            <a:off x="6126480" y="2423160"/>
            <a:ext cx="5212080" cy="1508760"/>
          </a:xfrm>
          <a:prstGeom prst="roundRect">
            <a:avLst>
              <a:gd name="adj" fmla="val 3636"/>
            </a:avLst>
          </a:prstGeom>
          <a:solidFill>
            <a:srgbClr val="252423"/>
          </a:solidFill>
          <a:ln w="12700">
            <a:solidFill>
              <a:srgbClr val="3B3A39"/>
            </a:solidFill>
            <a:prstDash val="solid"/>
          </a:ln>
        </p:spPr>
      </p:sp>
      <p:sp>
        <p:nvSpPr>
          <p:cNvPr id="12" name="Shape 9"/>
          <p:cNvSpPr/>
          <p:nvPr/>
        </p:nvSpPr>
        <p:spPr>
          <a:xfrm>
            <a:off x="6126480" y="2423160"/>
            <a:ext cx="73152" cy="1508760"/>
          </a:xfrm>
          <a:prstGeom prst="rect">
            <a:avLst/>
          </a:prstGeom>
          <a:solidFill>
            <a:srgbClr val="50E6FF"/>
          </a:solidFill>
          <a:ln/>
        </p:spPr>
      </p:sp>
      <p:sp>
        <p:nvSpPr>
          <p:cNvPr id="13" name="Text 10"/>
          <p:cNvSpPr/>
          <p:nvPr/>
        </p:nvSpPr>
        <p:spPr>
          <a:xfrm>
            <a:off x="6400800" y="2606040"/>
            <a:ext cx="4663440" cy="365760"/>
          </a:xfrm>
          <a:prstGeom prst="rect">
            <a:avLst/>
          </a:prstGeom>
          <a:noFill/>
          <a:ln/>
        </p:spPr>
        <p:txBody>
          <a:bodyPr wrap="square" lIns="0" tIns="0" rIns="0" bIns="0" rtlCol="0" anchor="ctr"/>
          <a:lstStyle/>
          <a:p>
            <a:pPr indent="0" marL="0">
              <a:buNone/>
            </a:pPr>
            <a:r>
              <a:rPr lang="en-US" sz="1500" b="1" dirty="0">
                <a:solidFill>
                  <a:srgbClr val="F3F2F1"/>
                </a:solidFill>
                <a:latin typeface="Segoe UI Semibold" pitchFamily="34" charset="0"/>
                <a:ea typeface="Segoe UI Semibold" pitchFamily="34" charset="-122"/>
                <a:cs typeface="Segoe UI Semibold" pitchFamily="34" charset="-120"/>
              </a:rPr>
              <a:t>Downstream integration</a:t>
            </a:r>
            <a:endParaRPr lang="en-US" sz="1500" dirty="0"/>
          </a:p>
        </p:txBody>
      </p:sp>
      <p:sp>
        <p:nvSpPr>
          <p:cNvPr id="14" name="Text 11"/>
          <p:cNvSpPr/>
          <p:nvPr/>
        </p:nvSpPr>
        <p:spPr>
          <a:xfrm>
            <a:off x="6400800" y="3017520"/>
            <a:ext cx="4663440" cy="914400"/>
          </a:xfrm>
          <a:prstGeom prst="rect">
            <a:avLst/>
          </a:prstGeom>
          <a:noFill/>
          <a:ln/>
        </p:spPr>
        <p:txBody>
          <a:bodyPr wrap="square" lIns="0" tIns="0" rIns="0" bIns="0" rtlCol="0" anchor="ctr"/>
          <a:lstStyle/>
          <a:p>
            <a:pPr indent="0" marL="0">
              <a:buNone/>
            </a:pPr>
            <a:r>
              <a:rPr lang="en-US" sz="1200" dirty="0">
                <a:solidFill>
                  <a:srgbClr val="C8C6C4"/>
                </a:solidFill>
                <a:latin typeface="Segoe UI" pitchFamily="34" charset="0"/>
                <a:ea typeface="Segoe UI" pitchFamily="34" charset="-122"/>
                <a:cs typeface="Segoe UI" pitchFamily="34" charset="-120"/>
              </a:rPr>
              <a:t>Route structured JSON into the customer's CRM, EHR, ERP, or case-management system.</a:t>
            </a:r>
            <a:endParaRPr lang="en-US" sz="1200" dirty="0"/>
          </a:p>
        </p:txBody>
      </p:sp>
      <p:sp>
        <p:nvSpPr>
          <p:cNvPr id="15" name="Shape 12"/>
          <p:cNvSpPr/>
          <p:nvPr/>
        </p:nvSpPr>
        <p:spPr>
          <a:xfrm>
            <a:off x="548640" y="4251960"/>
            <a:ext cx="5212080" cy="1508760"/>
          </a:xfrm>
          <a:prstGeom prst="roundRect">
            <a:avLst>
              <a:gd name="adj" fmla="val 3636"/>
            </a:avLst>
          </a:prstGeom>
          <a:solidFill>
            <a:srgbClr val="252423"/>
          </a:solidFill>
          <a:ln w="12700">
            <a:solidFill>
              <a:srgbClr val="3B3A39"/>
            </a:solidFill>
            <a:prstDash val="solid"/>
          </a:ln>
        </p:spPr>
      </p:sp>
      <p:sp>
        <p:nvSpPr>
          <p:cNvPr id="16" name="Shape 13"/>
          <p:cNvSpPr/>
          <p:nvPr/>
        </p:nvSpPr>
        <p:spPr>
          <a:xfrm>
            <a:off x="548640" y="4251960"/>
            <a:ext cx="73152" cy="1508760"/>
          </a:xfrm>
          <a:prstGeom prst="rect">
            <a:avLst/>
          </a:prstGeom>
          <a:solidFill>
            <a:srgbClr val="50E6FF"/>
          </a:solidFill>
          <a:ln/>
        </p:spPr>
      </p:sp>
      <p:sp>
        <p:nvSpPr>
          <p:cNvPr id="17" name="Text 14"/>
          <p:cNvSpPr/>
          <p:nvPr/>
        </p:nvSpPr>
        <p:spPr>
          <a:xfrm>
            <a:off x="822960" y="4434840"/>
            <a:ext cx="4663440" cy="365760"/>
          </a:xfrm>
          <a:prstGeom prst="rect">
            <a:avLst/>
          </a:prstGeom>
          <a:noFill/>
          <a:ln/>
        </p:spPr>
        <p:txBody>
          <a:bodyPr wrap="square" lIns="0" tIns="0" rIns="0" bIns="0" rtlCol="0" anchor="ctr"/>
          <a:lstStyle/>
          <a:p>
            <a:pPr indent="0" marL="0">
              <a:buNone/>
            </a:pPr>
            <a:r>
              <a:rPr lang="en-US" sz="1500" b="1" dirty="0">
                <a:solidFill>
                  <a:srgbClr val="F3F2F1"/>
                </a:solidFill>
                <a:latin typeface="Segoe UI Semibold" pitchFamily="34" charset="0"/>
                <a:ea typeface="Segoe UI Semibold" pitchFamily="34" charset="-122"/>
                <a:cs typeface="Segoe UI Semibold" pitchFamily="34" charset="-120"/>
              </a:rPr>
              <a:t>Notifications</a:t>
            </a:r>
            <a:endParaRPr lang="en-US" sz="1500" dirty="0"/>
          </a:p>
        </p:txBody>
      </p:sp>
      <p:sp>
        <p:nvSpPr>
          <p:cNvPr id="18" name="Text 15"/>
          <p:cNvSpPr/>
          <p:nvPr/>
        </p:nvSpPr>
        <p:spPr>
          <a:xfrm>
            <a:off x="822960" y="4846320"/>
            <a:ext cx="4663440" cy="914400"/>
          </a:xfrm>
          <a:prstGeom prst="rect">
            <a:avLst/>
          </a:prstGeom>
          <a:noFill/>
          <a:ln/>
        </p:spPr>
        <p:txBody>
          <a:bodyPr wrap="square" lIns="0" tIns="0" rIns="0" bIns="0" rtlCol="0" anchor="ctr"/>
          <a:lstStyle/>
          <a:p>
            <a:pPr indent="0" marL="0">
              <a:buNone/>
            </a:pPr>
            <a:r>
              <a:rPr lang="en-US" sz="1200" dirty="0">
                <a:solidFill>
                  <a:srgbClr val="C8C6C4"/>
                </a:solidFill>
                <a:latin typeface="Segoe UI" pitchFamily="34" charset="0"/>
                <a:ea typeface="Segoe UI" pitchFamily="34" charset="-122"/>
                <a:cs typeface="Segoe UI" pitchFamily="34" charset="-120"/>
              </a:rPr>
              <a:t>Add Teams or email alerts on completion, and specifically on documents routed to the errors folder.</a:t>
            </a:r>
            <a:endParaRPr lang="en-US" sz="1200" dirty="0"/>
          </a:p>
        </p:txBody>
      </p:sp>
      <p:sp>
        <p:nvSpPr>
          <p:cNvPr id="19" name="Shape 16"/>
          <p:cNvSpPr/>
          <p:nvPr/>
        </p:nvSpPr>
        <p:spPr>
          <a:xfrm>
            <a:off x="6126480" y="4251960"/>
            <a:ext cx="5212080" cy="1508760"/>
          </a:xfrm>
          <a:prstGeom prst="roundRect">
            <a:avLst>
              <a:gd name="adj" fmla="val 3636"/>
            </a:avLst>
          </a:prstGeom>
          <a:solidFill>
            <a:srgbClr val="252423"/>
          </a:solidFill>
          <a:ln w="12700">
            <a:solidFill>
              <a:srgbClr val="3B3A39"/>
            </a:solidFill>
            <a:prstDash val="solid"/>
          </a:ln>
        </p:spPr>
      </p:sp>
      <p:sp>
        <p:nvSpPr>
          <p:cNvPr id="20" name="Shape 17"/>
          <p:cNvSpPr/>
          <p:nvPr/>
        </p:nvSpPr>
        <p:spPr>
          <a:xfrm>
            <a:off x="6126480" y="4251960"/>
            <a:ext cx="73152" cy="1508760"/>
          </a:xfrm>
          <a:prstGeom prst="rect">
            <a:avLst/>
          </a:prstGeom>
          <a:solidFill>
            <a:srgbClr val="50E6FF"/>
          </a:solidFill>
          <a:ln/>
        </p:spPr>
      </p:sp>
      <p:sp>
        <p:nvSpPr>
          <p:cNvPr id="21" name="Text 18"/>
          <p:cNvSpPr/>
          <p:nvPr/>
        </p:nvSpPr>
        <p:spPr>
          <a:xfrm>
            <a:off x="6400800" y="4434840"/>
            <a:ext cx="4663440" cy="365760"/>
          </a:xfrm>
          <a:prstGeom prst="rect">
            <a:avLst/>
          </a:prstGeom>
          <a:noFill/>
          <a:ln/>
        </p:spPr>
        <p:txBody>
          <a:bodyPr wrap="square" lIns="0" tIns="0" rIns="0" bIns="0" rtlCol="0" anchor="ctr"/>
          <a:lstStyle/>
          <a:p>
            <a:pPr indent="0" marL="0">
              <a:buNone/>
            </a:pPr>
            <a:r>
              <a:rPr lang="en-US" sz="1500" b="1" dirty="0">
                <a:solidFill>
                  <a:srgbClr val="F3F2F1"/>
                </a:solidFill>
                <a:latin typeface="Segoe UI Semibold" pitchFamily="34" charset="0"/>
                <a:ea typeface="Segoe UI Semibold" pitchFamily="34" charset="-122"/>
                <a:cs typeface="Segoe UI Semibold" pitchFamily="34" charset="-120"/>
              </a:rPr>
              <a:t>Persistence &amp; reporting</a:t>
            </a:r>
            <a:endParaRPr lang="en-US" sz="1500" dirty="0"/>
          </a:p>
        </p:txBody>
      </p:sp>
      <p:sp>
        <p:nvSpPr>
          <p:cNvPr id="22" name="Text 19"/>
          <p:cNvSpPr/>
          <p:nvPr/>
        </p:nvSpPr>
        <p:spPr>
          <a:xfrm>
            <a:off x="6400800" y="4846320"/>
            <a:ext cx="4663440" cy="914400"/>
          </a:xfrm>
          <a:prstGeom prst="rect">
            <a:avLst/>
          </a:prstGeom>
          <a:noFill/>
          <a:ln/>
        </p:spPr>
        <p:txBody>
          <a:bodyPr wrap="square" lIns="0" tIns="0" rIns="0" bIns="0" rtlCol="0" anchor="ctr"/>
          <a:lstStyle/>
          <a:p>
            <a:pPr indent="0" marL="0">
              <a:buNone/>
            </a:pPr>
            <a:r>
              <a:rPr lang="en-US" sz="1200" dirty="0">
                <a:solidFill>
                  <a:srgbClr val="C8C6C4"/>
                </a:solidFill>
                <a:latin typeface="Segoe UI" pitchFamily="34" charset="0"/>
                <a:ea typeface="Segoe UI" pitchFamily="34" charset="-122"/>
                <a:cs typeface="Segoe UI" pitchFamily="34" charset="-120"/>
              </a:rPr>
              <a:t>Write extraction results to SQL/Cosmos DB for dashboards, SLAs, and historical audit.</a:t>
            </a:r>
            <a:endParaRPr lang="en-US" sz="1200" dirty="0"/>
          </a:p>
        </p:txBody>
      </p:sp>
      <p:sp>
        <p:nvSpPr>
          <p:cNvPr id="23" name="Text 20"/>
          <p:cNvSpPr/>
          <p:nvPr/>
        </p:nvSpPr>
        <p:spPr>
          <a:xfrm>
            <a:off x="548640" y="5989320"/>
            <a:ext cx="10789920" cy="274320"/>
          </a:xfrm>
          <a:prstGeom prst="rect">
            <a:avLst/>
          </a:prstGeom>
          <a:noFill/>
          <a:ln/>
        </p:spPr>
        <p:txBody>
          <a:bodyPr wrap="square" lIns="0" tIns="0" rIns="0" bIns="0" rtlCol="0" anchor="ctr"/>
          <a:lstStyle/>
          <a:p>
            <a:pPr indent="0" marL="0">
              <a:buNone/>
            </a:pPr>
            <a:r>
              <a:rPr lang="en-US" sz="1300" i="1" dirty="0">
                <a:solidFill>
                  <a:srgbClr val="50E6FF"/>
                </a:solidFill>
                <a:latin typeface="Segoe UI" pitchFamily="34" charset="0"/>
                <a:ea typeface="Segoe UI" pitchFamily="34" charset="-122"/>
                <a:cs typeface="Segoe UI" pitchFamily="34" charset="-120"/>
              </a:rPr>
              <a:t>Let's discuss which of these matter most for your environment.</a:t>
            </a:r>
            <a:endParaRPr lang="en-US" sz="1300" dirty="0"/>
          </a:p>
        </p:txBody>
      </p:sp>
      <p:sp>
        <p:nvSpPr>
          <p:cNvPr id="24" name="Text 21"/>
          <p:cNvSpPr/>
          <p:nvPr/>
        </p:nvSpPr>
        <p:spPr>
          <a:xfrm>
            <a:off x="457200" y="6419088"/>
            <a:ext cx="7315200" cy="274320"/>
          </a:xfrm>
          <a:prstGeom prst="rect">
            <a:avLst/>
          </a:prstGeom>
          <a:noFill/>
          <a:ln/>
        </p:spPr>
        <p:txBody>
          <a:bodyPr wrap="square" lIns="0" tIns="0" rIns="0" bIns="0" rtlCol="0" anchor="ctr"/>
          <a:lstStyle/>
          <a:p>
            <a:pPr indent="0" marL="0">
              <a:buNone/>
            </a:pPr>
            <a:r>
              <a:rPr lang="en-US" sz="900" dirty="0">
                <a:solidFill>
                  <a:srgbClr val="8A8886"/>
                </a:solidFill>
                <a:latin typeface="Segoe UI" pitchFamily="34" charset="0"/>
                <a:ea typeface="Segoe UI" pitchFamily="34" charset="-122"/>
                <a:cs typeface="Segoe UI" pitchFamily="34" charset="-120"/>
              </a:rPr>
              <a:t>Fax Ingest &amp; Extraction with Azure Content Understanding</a:t>
            </a:r>
            <a:endParaRPr lang="en-US" sz="900" dirty="0"/>
          </a:p>
        </p:txBody>
      </p:sp>
      <p:sp>
        <p:nvSpPr>
          <p:cNvPr id="25" name="Text 22"/>
          <p:cNvSpPr/>
          <p:nvPr/>
        </p:nvSpPr>
        <p:spPr>
          <a:xfrm>
            <a:off x="11247120" y="6419088"/>
            <a:ext cx="457200" cy="274320"/>
          </a:xfrm>
          <a:prstGeom prst="rect">
            <a:avLst/>
          </a:prstGeom>
          <a:noFill/>
          <a:ln/>
        </p:spPr>
        <p:txBody>
          <a:bodyPr wrap="square" lIns="0" tIns="0" rIns="0" bIns="0" rtlCol="0" anchor="ctr"/>
          <a:lstStyle/>
          <a:p>
            <a:pPr algn="r" indent="0" marL="0">
              <a:buNone/>
            </a:pPr>
            <a:r>
              <a:rPr lang="en-US" sz="900" dirty="0">
                <a:solidFill>
                  <a:srgbClr val="8A8886"/>
                </a:solidFill>
                <a:latin typeface="Segoe UI" pitchFamily="34" charset="0"/>
                <a:ea typeface="Segoe UI" pitchFamily="34" charset="-122"/>
                <a:cs typeface="Segoe U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Fax Ingest &amp; Extraction with Azure Content Understanding</dc:title>
  <dc:subject>PptxGenJS Presentation</dc:subject>
  <dc:creator>Microsoft</dc:creator>
  <cp:lastModifiedBy>Microsoft</cp:lastModifiedBy>
  <cp:revision>1</cp:revision>
  <dcterms:created xsi:type="dcterms:W3CDTF">2026-07-21T14:49:23Z</dcterms:created>
  <dcterms:modified xsi:type="dcterms:W3CDTF">2026-07-21T14:49:23Z</dcterms:modified>
</cp:coreProperties>
</file>